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6858000" cy="9144000"/>
  <p:embeddedFontLst>
    <p:embeddedFont>
      <p:font typeface="Open Sans SemiBold"/>
      <p:regular r:id="rId19"/>
      <p:bold r:id="rId20"/>
      <p:italic r:id="rId21"/>
      <p:boldItalic r:id="rId22"/>
    </p:embeddedFont>
    <p:embeddedFont>
      <p:font typeface="Open Sans Medium"/>
      <p:regular r:id="rId23"/>
      <p:bold r:id="rId24"/>
      <p:italic r:id="rId25"/>
      <p:boldItalic r:id="rId26"/>
    </p:embeddedFont>
    <p:embeddedFont>
      <p:font typeface="Open Sans"/>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OpenSansSemiBold-bold.fntdata"/><Relationship Id="rId22" Type="http://schemas.openxmlformats.org/officeDocument/2006/relationships/font" Target="fonts/OpenSansSemiBold-boldItalic.fntdata"/><Relationship Id="rId21" Type="http://schemas.openxmlformats.org/officeDocument/2006/relationships/font" Target="fonts/OpenSansSemiBold-italic.fntdata"/><Relationship Id="rId24" Type="http://schemas.openxmlformats.org/officeDocument/2006/relationships/font" Target="fonts/OpenSansMedium-bold.fntdata"/><Relationship Id="rId23" Type="http://schemas.openxmlformats.org/officeDocument/2006/relationships/font" Target="fonts/OpenSansMedium-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OpenSansMedium-boldItalic.fntdata"/><Relationship Id="rId25" Type="http://schemas.openxmlformats.org/officeDocument/2006/relationships/font" Target="fonts/OpenSansMedium-italic.fntdata"/><Relationship Id="rId28" Type="http://schemas.openxmlformats.org/officeDocument/2006/relationships/font" Target="fonts/OpenSans-bold.fntdata"/><Relationship Id="rId27" Type="http://schemas.openxmlformats.org/officeDocument/2006/relationships/font" Target="fonts/OpenSans-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OpenSans-italic.fntdata"/><Relationship Id="rId7" Type="http://schemas.openxmlformats.org/officeDocument/2006/relationships/slide" Target="slides/slide2.xml"/><Relationship Id="rId8" Type="http://schemas.openxmlformats.org/officeDocument/2006/relationships/slide" Target="slides/slide3.xml"/><Relationship Id="rId30" Type="http://schemas.openxmlformats.org/officeDocument/2006/relationships/font" Target="fonts/OpenSans-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OpenSansSemiBold-regular.fntdata"/><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29a53b724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329a53b724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29ce154e0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329ce154e0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29ce154e0a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29ce154e0a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29a53b7247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29a53b7247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29a53b7247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29a53b7247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29a53b7247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29a53b7247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29a53b7247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29a53b7247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29a53b7247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 name="Google Shape;146;g329a53b7247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29a53b7247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29a53b7247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14911c6e716_0_13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14911c6e716_0_13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2af729b4a03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2af729b4a03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14911c6e716_0_12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14911c6e716_0_12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hyperlink" Target="https://trumpwhitehouse.archives.gov/presidential-actions/presidential-memorandum-united-states-government-supported-research-development-national-security-policy/" TargetMode="External"/><Relationship Id="rId5" Type="http://schemas.openxmlformats.org/officeDocument/2006/relationships/hyperlink" Target="https://www.congress.gov/115/plaws/publ435/PLAW-115publ435.pdf"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hyperlink" Target="https://repository.si.edu/handle/10088/113528"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hyperlink" Target="https://orcid.org/0000-0002-1825-0097" TargetMode="External"/><Relationship Id="rId11" Type="http://schemas.openxmlformats.org/officeDocument/2006/relationships/hyperlink" Target="https://ror.org/03yn06t56" TargetMode="External"/><Relationship Id="rId10" Type="http://schemas.openxmlformats.org/officeDocument/2006/relationships/hyperlink" Target="https://ror.org/02kgve346" TargetMode="External"/><Relationship Id="rId12" Type="http://schemas.openxmlformats.org/officeDocument/2006/relationships/hyperlink" Target="https://ror.org/05nc0nk71" TargetMode="External"/><Relationship Id="rId9" Type="http://schemas.openxmlformats.org/officeDocument/2006/relationships/hyperlink" Target="https://ror.org/00bdqav06" TargetMode="External"/><Relationship Id="rId5" Type="http://schemas.openxmlformats.org/officeDocument/2006/relationships/hyperlink" Target="https://ror.org/052pywd95" TargetMode="External"/><Relationship Id="rId6" Type="http://schemas.openxmlformats.org/officeDocument/2006/relationships/hyperlink" Target="https://ror.org/04bgwn153" TargetMode="External"/><Relationship Id="rId7" Type="http://schemas.openxmlformats.org/officeDocument/2006/relationships/hyperlink" Target="https://orcid.org/0000-0002-1825-0097" TargetMode="External"/><Relationship Id="rId8" Type="http://schemas.openxmlformats.org/officeDocument/2006/relationships/hyperlink" Target="https://ror.org/02ttsq026"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1239000" y="4412000"/>
            <a:ext cx="3680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55" name="Google Shape;55;p13"/>
          <p:cNvSpPr/>
          <p:nvPr/>
        </p:nvSpPr>
        <p:spPr>
          <a:xfrm>
            <a:off x="125" y="2449075"/>
            <a:ext cx="9144000" cy="2694900"/>
          </a:xfrm>
          <a:prstGeom prst="rtTriangle">
            <a:avLst/>
          </a:prstGeom>
          <a:solidFill>
            <a:srgbClr val="013F91"/>
          </a:solidFill>
          <a:ln cap="flat" cmpd="sng" w="9525">
            <a:solidFill>
              <a:srgbClr val="013F9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56" name="Google Shape;56;p13"/>
          <p:cNvPicPr preferRelativeResize="0"/>
          <p:nvPr/>
        </p:nvPicPr>
        <p:blipFill>
          <a:blip r:embed="rId3">
            <a:alphaModFix/>
          </a:blip>
          <a:stretch>
            <a:fillRect/>
          </a:stretch>
        </p:blipFill>
        <p:spPr>
          <a:xfrm>
            <a:off x="8257626" y="4113321"/>
            <a:ext cx="755176" cy="755176"/>
          </a:xfrm>
          <a:prstGeom prst="rect">
            <a:avLst/>
          </a:prstGeom>
          <a:noFill/>
          <a:ln>
            <a:noFill/>
          </a:ln>
        </p:spPr>
      </p:pic>
      <p:sp>
        <p:nvSpPr>
          <p:cNvPr id="57" name="Google Shape;57;p13"/>
          <p:cNvSpPr txBox="1"/>
          <p:nvPr>
            <p:ph type="ctrTitle"/>
          </p:nvPr>
        </p:nvSpPr>
        <p:spPr>
          <a:xfrm>
            <a:off x="410375" y="556600"/>
            <a:ext cx="8323500" cy="16164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en" sz="3600">
                <a:solidFill>
                  <a:srgbClr val="000E56"/>
                </a:solidFill>
                <a:latin typeface="Open Sans"/>
                <a:ea typeface="Open Sans"/>
                <a:cs typeface="Open Sans"/>
                <a:sym typeface="Open Sans"/>
              </a:rPr>
              <a:t>NAO 205-18: Open Science Public Access Policy for NOAA Publications and Data</a:t>
            </a:r>
            <a:endParaRPr sz="2650">
              <a:solidFill>
                <a:srgbClr val="000E56"/>
              </a:solidFill>
              <a:latin typeface="Open Sans"/>
              <a:ea typeface="Open Sans"/>
              <a:cs typeface="Open Sans"/>
              <a:sym typeface="Open Sans"/>
            </a:endParaRPr>
          </a:p>
        </p:txBody>
      </p:sp>
      <p:sp>
        <p:nvSpPr>
          <p:cNvPr id="58" name="Google Shape;58;p13"/>
          <p:cNvSpPr txBox="1"/>
          <p:nvPr>
            <p:ph idx="1" type="subTitle"/>
          </p:nvPr>
        </p:nvSpPr>
        <p:spPr>
          <a:xfrm>
            <a:off x="47300" y="3856563"/>
            <a:ext cx="4587300" cy="1268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400">
                <a:solidFill>
                  <a:schemeClr val="lt1"/>
                </a:solidFill>
                <a:latin typeface="Open Sans"/>
                <a:ea typeface="Open Sans"/>
                <a:cs typeface="Open Sans"/>
                <a:sym typeface="Open Sans"/>
              </a:rPr>
              <a:t>Joe Fillingham, PARR WG Co-Chair, OCIO/CDO</a:t>
            </a:r>
            <a:endParaRPr sz="1400">
              <a:solidFill>
                <a:schemeClr val="lt1"/>
              </a:solidFill>
              <a:latin typeface="Open Sans"/>
              <a:ea typeface="Open Sans"/>
              <a:cs typeface="Open Sans"/>
              <a:sym typeface="Open Sans"/>
            </a:endParaRPr>
          </a:p>
          <a:p>
            <a:pPr indent="0" lvl="0" marL="0" rtl="0" algn="l">
              <a:spcBef>
                <a:spcPts val="0"/>
              </a:spcBef>
              <a:spcAft>
                <a:spcPts val="0"/>
              </a:spcAft>
              <a:buNone/>
            </a:pPr>
            <a:r>
              <a:rPr lang="en" sz="1400">
                <a:solidFill>
                  <a:schemeClr val="lt1"/>
                </a:solidFill>
                <a:latin typeface="Open Sans"/>
                <a:ea typeface="Open Sans"/>
                <a:cs typeface="Open Sans"/>
                <a:sym typeface="Open Sans"/>
              </a:rPr>
              <a:t>Jenn Fagan-Fry, </a:t>
            </a:r>
            <a:r>
              <a:rPr lang="en" sz="1400">
                <a:solidFill>
                  <a:schemeClr val="lt1"/>
                </a:solidFill>
                <a:latin typeface="Open Sans"/>
                <a:ea typeface="Open Sans"/>
                <a:cs typeface="Open Sans"/>
                <a:sym typeface="Open Sans"/>
              </a:rPr>
              <a:t>PARR WG Co-Chair, OAR/OSS/Library</a:t>
            </a:r>
            <a:endParaRPr sz="1400">
              <a:solidFill>
                <a:schemeClr val="lt1"/>
              </a:solidFill>
              <a:latin typeface="Open Sans"/>
              <a:ea typeface="Open Sans"/>
              <a:cs typeface="Open Sans"/>
              <a:sym typeface="Open Sans"/>
            </a:endParaRPr>
          </a:p>
          <a:p>
            <a:pPr indent="0" lvl="0" marL="0" rtl="0" algn="l">
              <a:spcBef>
                <a:spcPts val="0"/>
              </a:spcBef>
              <a:spcAft>
                <a:spcPts val="0"/>
              </a:spcAft>
              <a:buNone/>
            </a:pPr>
            <a:r>
              <a:t/>
            </a:r>
            <a:endParaRPr i="1" sz="1000">
              <a:solidFill>
                <a:schemeClr val="lt1"/>
              </a:solidFill>
              <a:latin typeface="Open Sans"/>
              <a:ea typeface="Open Sans"/>
              <a:cs typeface="Open Sans"/>
              <a:sym typeface="Open Sans"/>
            </a:endParaRPr>
          </a:p>
          <a:p>
            <a:pPr indent="0" lvl="0" marL="0" rtl="0" algn="l">
              <a:spcBef>
                <a:spcPts val="0"/>
              </a:spcBef>
              <a:spcAft>
                <a:spcPts val="0"/>
              </a:spcAft>
              <a:buNone/>
            </a:pPr>
            <a:r>
              <a:rPr lang="en" sz="1200">
                <a:solidFill>
                  <a:schemeClr val="lt1"/>
                </a:solidFill>
                <a:latin typeface="Open Sans"/>
                <a:ea typeface="Open Sans"/>
                <a:cs typeface="Open Sans"/>
                <a:sym typeface="Open Sans"/>
              </a:rPr>
              <a:t>February 6, 2025</a:t>
            </a:r>
            <a:endParaRPr sz="1200">
              <a:solidFill>
                <a:schemeClr val="lt1"/>
              </a:solidFill>
              <a:latin typeface="Open Sans"/>
              <a:ea typeface="Open Sans"/>
              <a:cs typeface="Open Sans"/>
              <a:sym typeface="Open Sans"/>
            </a:endParaRPr>
          </a:p>
        </p:txBody>
      </p:sp>
      <p:sp>
        <p:nvSpPr>
          <p:cNvPr id="59" name="Google Shape;59;p13"/>
          <p:cNvSpPr/>
          <p:nvPr/>
        </p:nvSpPr>
        <p:spPr>
          <a:xfrm>
            <a:off x="2341350" y="2226075"/>
            <a:ext cx="4461300" cy="5424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800">
                <a:solidFill>
                  <a:schemeClr val="dk2"/>
                </a:solidFill>
                <a:latin typeface="Open Sans"/>
                <a:ea typeface="Open Sans"/>
                <a:cs typeface="Open Sans"/>
                <a:sym typeface="Open Sans"/>
              </a:rPr>
              <a:t>Status &amp; Implementation</a:t>
            </a:r>
            <a:endParaRPr sz="2800">
              <a:solidFill>
                <a:schemeClr val="dk2"/>
              </a:solidFill>
              <a:latin typeface="Open Sans"/>
              <a:ea typeface="Open Sans"/>
              <a:cs typeface="Open Sans"/>
              <a:sym typeface="Open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4"/>
          <p:cNvSpPr txBox="1"/>
          <p:nvPr/>
        </p:nvSpPr>
        <p:spPr>
          <a:xfrm>
            <a:off x="1239000" y="4412000"/>
            <a:ext cx="3680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65" name="Google Shape;65;p14"/>
          <p:cNvSpPr/>
          <p:nvPr/>
        </p:nvSpPr>
        <p:spPr>
          <a:xfrm>
            <a:off x="125" y="475"/>
            <a:ext cx="531900" cy="5143500"/>
          </a:xfrm>
          <a:prstGeom prst="rtTriangle">
            <a:avLst/>
          </a:prstGeom>
          <a:solidFill>
            <a:srgbClr val="000E56"/>
          </a:solidFill>
          <a:ln cap="flat" cmpd="sng" w="9525">
            <a:solidFill>
              <a:srgbClr val="013F9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6" name="Google Shape;66;p14"/>
          <p:cNvPicPr preferRelativeResize="0"/>
          <p:nvPr/>
        </p:nvPicPr>
        <p:blipFill>
          <a:blip r:embed="rId3">
            <a:alphaModFix/>
          </a:blip>
          <a:stretch>
            <a:fillRect/>
          </a:stretch>
        </p:blipFill>
        <p:spPr>
          <a:xfrm>
            <a:off x="8466600" y="4602825"/>
            <a:ext cx="524701" cy="524701"/>
          </a:xfrm>
          <a:prstGeom prst="rect">
            <a:avLst/>
          </a:prstGeom>
          <a:noFill/>
          <a:ln>
            <a:noFill/>
          </a:ln>
        </p:spPr>
      </p:pic>
      <p:sp>
        <p:nvSpPr>
          <p:cNvPr id="67" name="Google Shape;67;p14"/>
          <p:cNvSpPr txBox="1"/>
          <p:nvPr>
            <p:ph type="title"/>
          </p:nvPr>
        </p:nvSpPr>
        <p:spPr>
          <a:xfrm>
            <a:off x="914100" y="205375"/>
            <a:ext cx="7918200" cy="11238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solidFill>
                  <a:srgbClr val="000E56"/>
                </a:solidFill>
                <a:latin typeface="Open Sans Medium"/>
                <a:ea typeface="Open Sans Medium"/>
                <a:cs typeface="Open Sans Medium"/>
                <a:sym typeface="Open Sans Medium"/>
              </a:rPr>
              <a:t>NAO 205-18: Open Science Public Access Policy for NOAA Publications and Data</a:t>
            </a:r>
            <a:endParaRPr>
              <a:solidFill>
                <a:srgbClr val="000E56"/>
              </a:solidFill>
              <a:latin typeface="Open Sans Medium"/>
              <a:ea typeface="Open Sans Medium"/>
              <a:cs typeface="Open Sans Medium"/>
              <a:sym typeface="Open Sans Medium"/>
            </a:endParaRPr>
          </a:p>
        </p:txBody>
      </p:sp>
      <p:sp>
        <p:nvSpPr>
          <p:cNvPr id="68" name="Google Shape;68;p14"/>
          <p:cNvSpPr/>
          <p:nvPr/>
        </p:nvSpPr>
        <p:spPr>
          <a:xfrm>
            <a:off x="48923" y="255275"/>
            <a:ext cx="512400" cy="4675200"/>
          </a:xfrm>
          <a:prstGeom prst="rtTriangle">
            <a:avLst/>
          </a:prstGeom>
          <a:solidFill>
            <a:srgbClr val="013F91"/>
          </a:solidFill>
          <a:ln cap="flat" cmpd="sng" w="9525">
            <a:solidFill>
              <a:srgbClr val="013F9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14"/>
          <p:cNvSpPr txBox="1"/>
          <p:nvPr>
            <p:ph idx="1" type="body"/>
          </p:nvPr>
        </p:nvSpPr>
        <p:spPr>
          <a:xfrm>
            <a:off x="914100" y="1604400"/>
            <a:ext cx="7600500" cy="3137700"/>
          </a:xfrm>
          <a:prstGeom prst="rect">
            <a:avLst/>
          </a:prstGeom>
        </p:spPr>
        <p:txBody>
          <a:bodyPr anchorCtr="0" anchor="t" bIns="91425" lIns="91425" spcFirstLastPara="1" rIns="91425" wrap="square" tIns="91425">
            <a:normAutofit/>
          </a:bodyPr>
          <a:lstStyle/>
          <a:p>
            <a:pPr indent="-342900" lvl="0" marL="457200" rtl="0" algn="l">
              <a:lnSpc>
                <a:spcPct val="100000"/>
              </a:lnSpc>
              <a:spcBef>
                <a:spcPts val="0"/>
              </a:spcBef>
              <a:spcAft>
                <a:spcPts val="0"/>
              </a:spcAft>
              <a:buClr>
                <a:srgbClr val="000E56"/>
              </a:buClr>
              <a:buSzPts val="1800"/>
              <a:buFont typeface="Open Sans"/>
              <a:buChar char="●"/>
            </a:pPr>
            <a:r>
              <a:rPr b="1" lang="en">
                <a:solidFill>
                  <a:srgbClr val="000E56"/>
                </a:solidFill>
                <a:latin typeface="Open Sans"/>
                <a:ea typeface="Open Sans"/>
                <a:cs typeface="Open Sans"/>
                <a:sym typeface="Open Sans"/>
              </a:rPr>
              <a:t>Policy framed around Open Science principles</a:t>
            </a:r>
            <a:endParaRPr b="1">
              <a:solidFill>
                <a:srgbClr val="000E56"/>
              </a:solidFill>
              <a:latin typeface="Open Sans"/>
              <a:ea typeface="Open Sans"/>
              <a:cs typeface="Open Sans"/>
              <a:sym typeface="Open Sans"/>
            </a:endParaRPr>
          </a:p>
          <a:p>
            <a:pPr indent="-317500" lvl="1" marL="914400" rtl="0" algn="l">
              <a:lnSpc>
                <a:spcPct val="100000"/>
              </a:lnSpc>
              <a:spcBef>
                <a:spcPts val="1000"/>
              </a:spcBef>
              <a:spcAft>
                <a:spcPts val="0"/>
              </a:spcAft>
              <a:buClr>
                <a:srgbClr val="000E56"/>
              </a:buClr>
              <a:buSzPts val="1400"/>
              <a:buFont typeface="Open Sans"/>
              <a:buChar char="○"/>
            </a:pPr>
            <a:r>
              <a:rPr lang="en">
                <a:solidFill>
                  <a:srgbClr val="000E56"/>
                </a:solidFill>
                <a:latin typeface="Open Sans"/>
                <a:ea typeface="Open Sans"/>
                <a:cs typeface="Open Sans"/>
                <a:sym typeface="Open Sans"/>
              </a:rPr>
              <a:t>Encompases elements/requirements of:</a:t>
            </a:r>
            <a:endParaRPr>
              <a:solidFill>
                <a:srgbClr val="000E56"/>
              </a:solidFill>
              <a:latin typeface="Open Sans"/>
              <a:ea typeface="Open Sans"/>
              <a:cs typeface="Open Sans"/>
              <a:sym typeface="Open Sans"/>
            </a:endParaRPr>
          </a:p>
          <a:p>
            <a:pPr indent="-317500" lvl="2" marL="1371600" rtl="0" algn="l">
              <a:lnSpc>
                <a:spcPct val="100000"/>
              </a:lnSpc>
              <a:spcBef>
                <a:spcPts val="1000"/>
              </a:spcBef>
              <a:spcAft>
                <a:spcPts val="0"/>
              </a:spcAft>
              <a:buClr>
                <a:srgbClr val="000E56"/>
              </a:buClr>
              <a:buSzPts val="1400"/>
              <a:buFont typeface="Open Sans"/>
              <a:buChar char="■"/>
            </a:pPr>
            <a:r>
              <a:rPr lang="en" sz="1200">
                <a:solidFill>
                  <a:srgbClr val="000E56"/>
                </a:solidFill>
                <a:latin typeface="Open Sans"/>
                <a:ea typeface="Open Sans"/>
                <a:cs typeface="Open Sans"/>
                <a:sym typeface="Open Sans"/>
              </a:rPr>
              <a:t>National Security Strategy for United States Government-Supported Research and Development (</a:t>
            </a:r>
            <a:r>
              <a:rPr lang="en" sz="1200" u="sng">
                <a:solidFill>
                  <a:schemeClr val="hlink"/>
                </a:solidFill>
                <a:latin typeface="Open Sans"/>
                <a:ea typeface="Open Sans"/>
                <a:cs typeface="Open Sans"/>
                <a:sym typeface="Open Sans"/>
                <a:hlinkClick r:id="rId4"/>
              </a:rPr>
              <a:t>NSPM-33</a:t>
            </a:r>
            <a:r>
              <a:rPr lang="en" sz="1200">
                <a:solidFill>
                  <a:srgbClr val="000E56"/>
                </a:solidFill>
                <a:latin typeface="Open Sans"/>
                <a:ea typeface="Open Sans"/>
                <a:cs typeface="Open Sans"/>
                <a:sym typeface="Open Sans"/>
              </a:rPr>
              <a:t>)</a:t>
            </a:r>
            <a:endParaRPr sz="1200">
              <a:solidFill>
                <a:srgbClr val="000E56"/>
              </a:solidFill>
              <a:latin typeface="Open Sans"/>
              <a:ea typeface="Open Sans"/>
              <a:cs typeface="Open Sans"/>
              <a:sym typeface="Open Sans"/>
            </a:endParaRPr>
          </a:p>
          <a:p>
            <a:pPr indent="-317500" lvl="2" marL="1371600" rtl="0" algn="l">
              <a:lnSpc>
                <a:spcPct val="100000"/>
              </a:lnSpc>
              <a:spcBef>
                <a:spcPts val="1000"/>
              </a:spcBef>
              <a:spcAft>
                <a:spcPts val="0"/>
              </a:spcAft>
              <a:buClr>
                <a:srgbClr val="000E56"/>
              </a:buClr>
              <a:buSzPts val="1400"/>
              <a:buFont typeface="Open Sans"/>
              <a:buChar char="■"/>
            </a:pPr>
            <a:r>
              <a:rPr lang="en" sz="1300">
                <a:solidFill>
                  <a:srgbClr val="000E56"/>
                </a:solidFill>
                <a:latin typeface="Open Sans"/>
                <a:ea typeface="Open Sans"/>
                <a:cs typeface="Open Sans"/>
                <a:sym typeface="Open Sans"/>
              </a:rPr>
              <a:t>Public Law 115–435 Foundations for Evidence-Based Policymaking Act of 2018. (</a:t>
            </a:r>
            <a:r>
              <a:rPr lang="en" sz="1300" u="sng">
                <a:solidFill>
                  <a:schemeClr val="hlink"/>
                </a:solidFill>
                <a:latin typeface="Open Sans"/>
                <a:ea typeface="Open Sans"/>
                <a:cs typeface="Open Sans"/>
                <a:sym typeface="Open Sans"/>
                <a:hlinkClick r:id="rId5"/>
              </a:rPr>
              <a:t>Evidence Act</a:t>
            </a:r>
            <a:r>
              <a:rPr lang="en" sz="1300">
                <a:solidFill>
                  <a:srgbClr val="000E56"/>
                </a:solidFill>
                <a:latin typeface="Open Sans"/>
                <a:ea typeface="Open Sans"/>
                <a:cs typeface="Open Sans"/>
                <a:sym typeface="Open Sans"/>
              </a:rPr>
              <a:t>)</a:t>
            </a:r>
            <a:endParaRPr sz="1300">
              <a:solidFill>
                <a:srgbClr val="000E56"/>
              </a:solidFill>
              <a:latin typeface="Open Sans"/>
              <a:ea typeface="Open Sans"/>
              <a:cs typeface="Open Sans"/>
              <a:sym typeface="Open Sans"/>
            </a:endParaRPr>
          </a:p>
          <a:p>
            <a:pPr indent="-342900" lvl="0" marL="457200" rtl="0" algn="l">
              <a:lnSpc>
                <a:spcPct val="100000"/>
              </a:lnSpc>
              <a:spcBef>
                <a:spcPts val="1000"/>
              </a:spcBef>
              <a:spcAft>
                <a:spcPts val="1000"/>
              </a:spcAft>
              <a:buClr>
                <a:srgbClr val="000E56"/>
              </a:buClr>
              <a:buSzPts val="1800"/>
              <a:buFont typeface="Open Sans"/>
              <a:buChar char="●"/>
            </a:pPr>
            <a:r>
              <a:rPr b="1" lang="en">
                <a:solidFill>
                  <a:srgbClr val="000E56"/>
                </a:solidFill>
                <a:latin typeface="Open Sans"/>
                <a:ea typeface="Open Sans"/>
                <a:cs typeface="Open Sans"/>
                <a:sym typeface="Open Sans"/>
              </a:rPr>
              <a:t>Supersedes previous NOAA PARR Plan (2015)</a:t>
            </a:r>
            <a:endParaRPr>
              <a:solidFill>
                <a:srgbClr val="000E56"/>
              </a:solidFill>
              <a:latin typeface="Open Sans"/>
              <a:ea typeface="Open Sans"/>
              <a:cs typeface="Open Sans"/>
              <a:sym typeface="Open Sans"/>
            </a:endParaRPr>
          </a:p>
        </p:txBody>
      </p:sp>
      <p:sp>
        <p:nvSpPr>
          <p:cNvPr id="70" name="Google Shape;70;p14"/>
          <p:cNvSpPr/>
          <p:nvPr/>
        </p:nvSpPr>
        <p:spPr>
          <a:xfrm>
            <a:off x="102598" y="494325"/>
            <a:ext cx="473400" cy="4173300"/>
          </a:xfrm>
          <a:prstGeom prst="rtTriangle">
            <a:avLst/>
          </a:prstGeom>
          <a:solidFill>
            <a:srgbClr val="17A4F7"/>
          </a:solidFill>
          <a:ln cap="flat" cmpd="sng" w="9525">
            <a:solidFill>
              <a:srgbClr val="17A4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14"/>
          <p:cNvSpPr txBox="1"/>
          <p:nvPr/>
        </p:nvSpPr>
        <p:spPr>
          <a:xfrm>
            <a:off x="4306400" y="4812200"/>
            <a:ext cx="4381800" cy="292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700">
                <a:solidFill>
                  <a:srgbClr val="013F91"/>
                </a:solidFill>
              </a:rPr>
              <a:t>Department of Commerce | National Oceanic and Atmospheric Administration | NOAA Library | </a:t>
            </a:r>
            <a:endParaRPr sz="700">
              <a:solidFill>
                <a:srgbClr val="013F9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5"/>
          <p:cNvSpPr txBox="1"/>
          <p:nvPr/>
        </p:nvSpPr>
        <p:spPr>
          <a:xfrm>
            <a:off x="1239000" y="4412000"/>
            <a:ext cx="3680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77" name="Google Shape;77;p15"/>
          <p:cNvSpPr/>
          <p:nvPr/>
        </p:nvSpPr>
        <p:spPr>
          <a:xfrm>
            <a:off x="125" y="475"/>
            <a:ext cx="531900" cy="5143500"/>
          </a:xfrm>
          <a:prstGeom prst="rtTriangle">
            <a:avLst/>
          </a:prstGeom>
          <a:solidFill>
            <a:srgbClr val="000E56"/>
          </a:solidFill>
          <a:ln cap="flat" cmpd="sng" w="9525">
            <a:solidFill>
              <a:srgbClr val="013F9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8" name="Google Shape;78;p15"/>
          <p:cNvPicPr preferRelativeResize="0"/>
          <p:nvPr/>
        </p:nvPicPr>
        <p:blipFill>
          <a:blip r:embed="rId3">
            <a:alphaModFix/>
          </a:blip>
          <a:stretch>
            <a:fillRect/>
          </a:stretch>
        </p:blipFill>
        <p:spPr>
          <a:xfrm>
            <a:off x="8466600" y="4602825"/>
            <a:ext cx="524701" cy="524701"/>
          </a:xfrm>
          <a:prstGeom prst="rect">
            <a:avLst/>
          </a:prstGeom>
          <a:noFill/>
          <a:ln>
            <a:noFill/>
          </a:ln>
        </p:spPr>
      </p:pic>
      <p:sp>
        <p:nvSpPr>
          <p:cNvPr id="79" name="Google Shape;79;p15"/>
          <p:cNvSpPr txBox="1"/>
          <p:nvPr>
            <p:ph type="title"/>
          </p:nvPr>
        </p:nvSpPr>
        <p:spPr>
          <a:xfrm>
            <a:off x="914100" y="205375"/>
            <a:ext cx="7918200" cy="1178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solidFill>
                  <a:srgbClr val="000E56"/>
                </a:solidFill>
                <a:latin typeface="Open Sans Medium"/>
                <a:ea typeface="Open Sans Medium"/>
                <a:cs typeface="Open Sans Medium"/>
                <a:sym typeface="Open Sans Medium"/>
              </a:rPr>
              <a:t>NAO 205-18: Open Science Public Access Policy for NOAA Publications and Data</a:t>
            </a:r>
            <a:endParaRPr>
              <a:solidFill>
                <a:srgbClr val="000E56"/>
              </a:solidFill>
              <a:latin typeface="Open Sans Medium"/>
              <a:ea typeface="Open Sans Medium"/>
              <a:cs typeface="Open Sans Medium"/>
              <a:sym typeface="Open Sans Medium"/>
            </a:endParaRPr>
          </a:p>
        </p:txBody>
      </p:sp>
      <p:sp>
        <p:nvSpPr>
          <p:cNvPr id="80" name="Google Shape;80;p15"/>
          <p:cNvSpPr/>
          <p:nvPr/>
        </p:nvSpPr>
        <p:spPr>
          <a:xfrm>
            <a:off x="48923" y="255275"/>
            <a:ext cx="512400" cy="4675200"/>
          </a:xfrm>
          <a:prstGeom prst="rtTriangle">
            <a:avLst/>
          </a:prstGeom>
          <a:solidFill>
            <a:srgbClr val="013F91"/>
          </a:solidFill>
          <a:ln cap="flat" cmpd="sng" w="9525">
            <a:solidFill>
              <a:srgbClr val="013F9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5"/>
          <p:cNvSpPr txBox="1"/>
          <p:nvPr>
            <p:ph idx="1" type="body"/>
          </p:nvPr>
        </p:nvSpPr>
        <p:spPr>
          <a:xfrm>
            <a:off x="914100" y="1525750"/>
            <a:ext cx="7600500" cy="3216600"/>
          </a:xfrm>
          <a:prstGeom prst="rect">
            <a:avLst/>
          </a:prstGeom>
        </p:spPr>
        <p:txBody>
          <a:bodyPr anchorCtr="0" anchor="t" bIns="91425" lIns="91425" spcFirstLastPara="1" rIns="91425" wrap="square" tIns="91425">
            <a:normAutofit/>
          </a:bodyPr>
          <a:lstStyle/>
          <a:p>
            <a:pPr indent="-342900" lvl="0" marL="457200" rtl="0" algn="l">
              <a:lnSpc>
                <a:spcPct val="100000"/>
              </a:lnSpc>
              <a:spcBef>
                <a:spcPts val="0"/>
              </a:spcBef>
              <a:spcAft>
                <a:spcPts val="0"/>
              </a:spcAft>
              <a:buClr>
                <a:srgbClr val="000E56"/>
              </a:buClr>
              <a:buSzPts val="1800"/>
              <a:buFont typeface="Open Sans"/>
              <a:buChar char="●"/>
            </a:pPr>
            <a:r>
              <a:rPr lang="en">
                <a:solidFill>
                  <a:srgbClr val="000E56"/>
                </a:solidFill>
                <a:latin typeface="Open Sans"/>
                <a:ea typeface="Open Sans"/>
                <a:cs typeface="Open Sans"/>
                <a:sym typeface="Open Sans"/>
              </a:rPr>
              <a:t>A</a:t>
            </a:r>
            <a:r>
              <a:rPr lang="en">
                <a:solidFill>
                  <a:srgbClr val="000E56"/>
                </a:solidFill>
                <a:latin typeface="Open Sans"/>
                <a:ea typeface="Open Sans"/>
                <a:cs typeface="Open Sans"/>
                <a:sym typeface="Open Sans"/>
              </a:rPr>
              <a:t>s of January 10, 2025 - NAO with OCAO for General Counsel, Labor Relations, and NOAA Administrator approval </a:t>
            </a:r>
            <a:endParaRPr>
              <a:solidFill>
                <a:srgbClr val="000E56"/>
              </a:solidFill>
              <a:latin typeface="Open Sans"/>
              <a:ea typeface="Open Sans"/>
              <a:cs typeface="Open Sans"/>
              <a:sym typeface="Open Sans"/>
            </a:endParaRPr>
          </a:p>
          <a:p>
            <a:pPr indent="-342900" lvl="0" marL="457200" rtl="0" algn="l">
              <a:lnSpc>
                <a:spcPct val="100000"/>
              </a:lnSpc>
              <a:spcBef>
                <a:spcPts val="1000"/>
              </a:spcBef>
              <a:spcAft>
                <a:spcPts val="0"/>
              </a:spcAft>
              <a:buClr>
                <a:srgbClr val="000E56"/>
              </a:buClr>
              <a:buSzPts val="1800"/>
              <a:buFont typeface="Open Sans"/>
              <a:buChar char="●"/>
            </a:pPr>
            <a:r>
              <a:rPr lang="en">
                <a:solidFill>
                  <a:srgbClr val="000E56"/>
                </a:solidFill>
                <a:latin typeface="Open Sans"/>
                <a:ea typeface="Open Sans"/>
                <a:cs typeface="Open Sans"/>
                <a:sym typeface="Open Sans"/>
              </a:rPr>
              <a:t>PARR Working Group is </a:t>
            </a:r>
            <a:r>
              <a:rPr b="1" lang="en">
                <a:solidFill>
                  <a:srgbClr val="000E56"/>
                </a:solidFill>
                <a:latin typeface="Open Sans"/>
                <a:ea typeface="Open Sans"/>
                <a:cs typeface="Open Sans"/>
                <a:sym typeface="Open Sans"/>
              </a:rPr>
              <a:t>reorganizing to focus on implementation</a:t>
            </a:r>
            <a:endParaRPr b="1">
              <a:solidFill>
                <a:srgbClr val="000E56"/>
              </a:solidFill>
              <a:latin typeface="Open Sans"/>
              <a:ea typeface="Open Sans"/>
              <a:cs typeface="Open Sans"/>
              <a:sym typeface="Open Sans"/>
            </a:endParaRPr>
          </a:p>
          <a:p>
            <a:pPr indent="-317500" lvl="1" marL="914400" rtl="0" algn="l">
              <a:lnSpc>
                <a:spcPct val="100000"/>
              </a:lnSpc>
              <a:spcBef>
                <a:spcPts val="1000"/>
              </a:spcBef>
              <a:spcAft>
                <a:spcPts val="0"/>
              </a:spcAft>
              <a:buClr>
                <a:srgbClr val="000E56"/>
              </a:buClr>
              <a:buSzPts val="1400"/>
              <a:buFont typeface="Open Sans"/>
              <a:buChar char="○"/>
            </a:pPr>
            <a:r>
              <a:rPr lang="en">
                <a:solidFill>
                  <a:srgbClr val="000E56"/>
                </a:solidFill>
                <a:latin typeface="Open Sans"/>
                <a:ea typeface="Open Sans"/>
                <a:cs typeface="Open Sans"/>
                <a:sym typeface="Open Sans"/>
              </a:rPr>
              <a:t>NAO Responsible Parties: NOAA Chief Data Officer (CDO) and NOAA Library Director</a:t>
            </a:r>
            <a:endParaRPr>
              <a:solidFill>
                <a:srgbClr val="000E56"/>
              </a:solidFill>
              <a:latin typeface="Open Sans"/>
              <a:ea typeface="Open Sans"/>
              <a:cs typeface="Open Sans"/>
              <a:sym typeface="Open Sans"/>
            </a:endParaRPr>
          </a:p>
          <a:p>
            <a:pPr indent="-317500" lvl="1" marL="914400" rtl="0" algn="l">
              <a:lnSpc>
                <a:spcPct val="100000"/>
              </a:lnSpc>
              <a:spcBef>
                <a:spcPts val="1000"/>
              </a:spcBef>
              <a:spcAft>
                <a:spcPts val="0"/>
              </a:spcAft>
              <a:buClr>
                <a:srgbClr val="000E56"/>
              </a:buClr>
              <a:buSzPts val="1400"/>
              <a:buFont typeface="Open Sans"/>
              <a:buChar char="○"/>
            </a:pPr>
            <a:r>
              <a:rPr lang="en">
                <a:solidFill>
                  <a:srgbClr val="000E56"/>
                </a:solidFill>
                <a:latin typeface="Open Sans"/>
                <a:ea typeface="Open Sans"/>
                <a:cs typeface="Open Sans"/>
                <a:sym typeface="Open Sans"/>
              </a:rPr>
              <a:t>Implementation group will</a:t>
            </a:r>
            <a:r>
              <a:rPr lang="en">
                <a:solidFill>
                  <a:srgbClr val="000E56"/>
                </a:solidFill>
                <a:latin typeface="Open Sans"/>
                <a:ea typeface="Open Sans"/>
                <a:cs typeface="Open Sans"/>
                <a:sym typeface="Open Sans"/>
              </a:rPr>
              <a:t> be co-chaired by representatives of the CDO and the NOAA Library</a:t>
            </a:r>
            <a:endParaRPr>
              <a:solidFill>
                <a:srgbClr val="000E56"/>
              </a:solidFill>
              <a:latin typeface="Open Sans"/>
              <a:ea typeface="Open Sans"/>
              <a:cs typeface="Open Sans"/>
              <a:sym typeface="Open Sans"/>
            </a:endParaRPr>
          </a:p>
          <a:p>
            <a:pPr indent="-317500" lvl="2" marL="1371600" rtl="0" algn="l">
              <a:lnSpc>
                <a:spcPct val="100000"/>
              </a:lnSpc>
              <a:spcBef>
                <a:spcPts val="1000"/>
              </a:spcBef>
              <a:spcAft>
                <a:spcPts val="0"/>
              </a:spcAft>
              <a:buClr>
                <a:srgbClr val="000E56"/>
              </a:buClr>
              <a:buSzPts val="1400"/>
              <a:buFont typeface="Open Sans"/>
              <a:buChar char="■"/>
            </a:pPr>
            <a:r>
              <a:rPr b="1" lang="en">
                <a:solidFill>
                  <a:srgbClr val="000E56"/>
                </a:solidFill>
                <a:latin typeface="Open Sans"/>
                <a:ea typeface="Open Sans"/>
                <a:cs typeface="Open Sans"/>
                <a:sym typeface="Open Sans"/>
              </a:rPr>
              <a:t>Jennifer Fagan-Fry</a:t>
            </a:r>
            <a:r>
              <a:rPr lang="en">
                <a:solidFill>
                  <a:srgbClr val="000E56"/>
                </a:solidFill>
                <a:latin typeface="Open Sans"/>
                <a:ea typeface="Open Sans"/>
                <a:cs typeface="Open Sans"/>
                <a:sym typeface="Open Sans"/>
              </a:rPr>
              <a:t>, NOAA IR &amp; Publishing Coordinator</a:t>
            </a:r>
            <a:endParaRPr>
              <a:solidFill>
                <a:srgbClr val="000E56"/>
              </a:solidFill>
              <a:latin typeface="Open Sans"/>
              <a:ea typeface="Open Sans"/>
              <a:cs typeface="Open Sans"/>
              <a:sym typeface="Open Sans"/>
            </a:endParaRPr>
          </a:p>
          <a:p>
            <a:pPr indent="-317500" lvl="2" marL="1371600" rtl="0" algn="l">
              <a:lnSpc>
                <a:spcPct val="100000"/>
              </a:lnSpc>
              <a:spcBef>
                <a:spcPts val="1000"/>
              </a:spcBef>
              <a:spcAft>
                <a:spcPts val="1000"/>
              </a:spcAft>
              <a:buClr>
                <a:srgbClr val="000E56"/>
              </a:buClr>
              <a:buSzPts val="1400"/>
              <a:buFont typeface="Open Sans"/>
              <a:buChar char="■"/>
            </a:pPr>
            <a:r>
              <a:rPr b="1" lang="en">
                <a:solidFill>
                  <a:srgbClr val="000E56"/>
                </a:solidFill>
                <a:latin typeface="Open Sans"/>
                <a:ea typeface="Open Sans"/>
                <a:cs typeface="Open Sans"/>
                <a:sym typeface="Open Sans"/>
              </a:rPr>
              <a:t>Joe Fillingham</a:t>
            </a:r>
            <a:r>
              <a:rPr lang="en">
                <a:solidFill>
                  <a:srgbClr val="000E56"/>
                </a:solidFill>
                <a:latin typeface="Open Sans"/>
                <a:ea typeface="Open Sans"/>
                <a:cs typeface="Open Sans"/>
                <a:sym typeface="Open Sans"/>
              </a:rPr>
              <a:t>, NOAA Data Governance Lead and ACDO for SO/CO</a:t>
            </a:r>
            <a:endParaRPr>
              <a:solidFill>
                <a:srgbClr val="000E56"/>
              </a:solidFill>
              <a:latin typeface="Open Sans"/>
              <a:ea typeface="Open Sans"/>
              <a:cs typeface="Open Sans"/>
              <a:sym typeface="Open Sans"/>
            </a:endParaRPr>
          </a:p>
        </p:txBody>
      </p:sp>
      <p:sp>
        <p:nvSpPr>
          <p:cNvPr id="82" name="Google Shape;82;p15"/>
          <p:cNvSpPr/>
          <p:nvPr/>
        </p:nvSpPr>
        <p:spPr>
          <a:xfrm>
            <a:off x="102598" y="494325"/>
            <a:ext cx="473400" cy="4173300"/>
          </a:xfrm>
          <a:prstGeom prst="rtTriangle">
            <a:avLst/>
          </a:prstGeom>
          <a:solidFill>
            <a:srgbClr val="17A4F7"/>
          </a:solidFill>
          <a:ln cap="flat" cmpd="sng" w="9525">
            <a:solidFill>
              <a:srgbClr val="17A4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5"/>
          <p:cNvSpPr txBox="1"/>
          <p:nvPr/>
        </p:nvSpPr>
        <p:spPr>
          <a:xfrm>
            <a:off x="4306400" y="4812200"/>
            <a:ext cx="4381800" cy="292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700">
                <a:solidFill>
                  <a:srgbClr val="013F91"/>
                </a:solidFill>
              </a:rPr>
              <a:t>Department of Commerce | National Oceanic and Atmospheric Administration | NOAA Library | </a:t>
            </a:r>
            <a:endParaRPr sz="700">
              <a:solidFill>
                <a:srgbClr val="013F9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6"/>
          <p:cNvSpPr txBox="1"/>
          <p:nvPr/>
        </p:nvSpPr>
        <p:spPr>
          <a:xfrm>
            <a:off x="1239000" y="4412000"/>
            <a:ext cx="3680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89" name="Google Shape;89;p16"/>
          <p:cNvSpPr/>
          <p:nvPr/>
        </p:nvSpPr>
        <p:spPr>
          <a:xfrm>
            <a:off x="125" y="475"/>
            <a:ext cx="531900" cy="5143500"/>
          </a:xfrm>
          <a:prstGeom prst="rtTriangle">
            <a:avLst/>
          </a:prstGeom>
          <a:solidFill>
            <a:srgbClr val="000E56"/>
          </a:solidFill>
          <a:ln cap="flat" cmpd="sng" w="9525">
            <a:solidFill>
              <a:srgbClr val="013F9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90" name="Google Shape;90;p16"/>
          <p:cNvPicPr preferRelativeResize="0"/>
          <p:nvPr/>
        </p:nvPicPr>
        <p:blipFill>
          <a:blip r:embed="rId3">
            <a:alphaModFix/>
          </a:blip>
          <a:stretch>
            <a:fillRect/>
          </a:stretch>
        </p:blipFill>
        <p:spPr>
          <a:xfrm>
            <a:off x="8466600" y="4602825"/>
            <a:ext cx="524701" cy="524701"/>
          </a:xfrm>
          <a:prstGeom prst="rect">
            <a:avLst/>
          </a:prstGeom>
          <a:noFill/>
          <a:ln>
            <a:noFill/>
          </a:ln>
        </p:spPr>
      </p:pic>
      <p:sp>
        <p:nvSpPr>
          <p:cNvPr id="91" name="Google Shape;91;p16"/>
          <p:cNvSpPr txBox="1"/>
          <p:nvPr>
            <p:ph type="title"/>
          </p:nvPr>
        </p:nvSpPr>
        <p:spPr>
          <a:xfrm>
            <a:off x="914100" y="205375"/>
            <a:ext cx="7918200" cy="1178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a:solidFill>
                  <a:srgbClr val="000E56"/>
                </a:solidFill>
                <a:latin typeface="Open Sans"/>
                <a:ea typeface="Open Sans"/>
                <a:cs typeface="Open Sans"/>
                <a:sym typeface="Open Sans"/>
              </a:rPr>
              <a:t>Bottom Line Up Front</a:t>
            </a:r>
            <a:r>
              <a:rPr lang="en">
                <a:solidFill>
                  <a:srgbClr val="000E56"/>
                </a:solidFill>
                <a:latin typeface="Open Sans Medium"/>
                <a:ea typeface="Open Sans Medium"/>
                <a:cs typeface="Open Sans Medium"/>
                <a:sym typeface="Open Sans Medium"/>
              </a:rPr>
              <a:t>: </a:t>
            </a:r>
            <a:endParaRPr>
              <a:solidFill>
                <a:srgbClr val="000E56"/>
              </a:solidFill>
              <a:latin typeface="Open Sans Medium"/>
              <a:ea typeface="Open Sans Medium"/>
              <a:cs typeface="Open Sans Medium"/>
              <a:sym typeface="Open Sans Medium"/>
            </a:endParaRPr>
          </a:p>
          <a:p>
            <a:pPr indent="0" lvl="0" marL="0" rtl="0" algn="ctr">
              <a:spcBef>
                <a:spcPts val="0"/>
              </a:spcBef>
              <a:spcAft>
                <a:spcPts val="0"/>
              </a:spcAft>
              <a:buNone/>
            </a:pPr>
            <a:r>
              <a:rPr lang="en">
                <a:solidFill>
                  <a:srgbClr val="000E56"/>
                </a:solidFill>
                <a:latin typeface="Open Sans Medium"/>
                <a:ea typeface="Open Sans Medium"/>
                <a:cs typeface="Open Sans Medium"/>
                <a:sym typeface="Open Sans Medium"/>
              </a:rPr>
              <a:t>What do I need to know about PARR 2.0?</a:t>
            </a:r>
            <a:endParaRPr>
              <a:solidFill>
                <a:srgbClr val="000E56"/>
              </a:solidFill>
              <a:latin typeface="Open Sans Medium"/>
              <a:ea typeface="Open Sans Medium"/>
              <a:cs typeface="Open Sans Medium"/>
              <a:sym typeface="Open Sans Medium"/>
            </a:endParaRPr>
          </a:p>
        </p:txBody>
      </p:sp>
      <p:sp>
        <p:nvSpPr>
          <p:cNvPr id="92" name="Google Shape;92;p16"/>
          <p:cNvSpPr/>
          <p:nvPr/>
        </p:nvSpPr>
        <p:spPr>
          <a:xfrm>
            <a:off x="48923" y="255275"/>
            <a:ext cx="512400" cy="4675200"/>
          </a:xfrm>
          <a:prstGeom prst="rtTriangle">
            <a:avLst/>
          </a:prstGeom>
          <a:solidFill>
            <a:srgbClr val="013F91"/>
          </a:solidFill>
          <a:ln cap="flat" cmpd="sng" w="9525">
            <a:solidFill>
              <a:srgbClr val="013F9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6"/>
          <p:cNvSpPr txBox="1"/>
          <p:nvPr>
            <p:ph idx="1" type="body"/>
          </p:nvPr>
        </p:nvSpPr>
        <p:spPr>
          <a:xfrm>
            <a:off x="914100" y="1344850"/>
            <a:ext cx="7600500" cy="3397500"/>
          </a:xfrm>
          <a:prstGeom prst="rect">
            <a:avLst/>
          </a:prstGeom>
        </p:spPr>
        <p:txBody>
          <a:bodyPr anchorCtr="0" anchor="t" bIns="91425" lIns="91425" spcFirstLastPara="1" rIns="91425" wrap="square" tIns="91425">
            <a:normAutofit fontScale="85000" lnSpcReduction="20000"/>
          </a:bodyPr>
          <a:lstStyle/>
          <a:p>
            <a:pPr indent="-325755" lvl="0" marL="457200" rtl="0" algn="l">
              <a:lnSpc>
                <a:spcPct val="115000"/>
              </a:lnSpc>
              <a:spcBef>
                <a:spcPts val="0"/>
              </a:spcBef>
              <a:spcAft>
                <a:spcPts val="0"/>
              </a:spcAft>
              <a:buClr>
                <a:srgbClr val="000E56"/>
              </a:buClr>
              <a:buSzPct val="100000"/>
              <a:buFont typeface="Open Sans"/>
              <a:buChar char="●"/>
            </a:pPr>
            <a:r>
              <a:rPr lang="en">
                <a:solidFill>
                  <a:srgbClr val="000E56"/>
                </a:solidFill>
                <a:latin typeface="Open Sans"/>
                <a:ea typeface="Open Sans"/>
                <a:cs typeface="Open Sans"/>
                <a:sym typeface="Open Sans"/>
              </a:rPr>
              <a:t>New NOAA Administrative Order (NAO) is pending final approval</a:t>
            </a:r>
            <a:endParaRPr>
              <a:solidFill>
                <a:srgbClr val="000E56"/>
              </a:solidFill>
              <a:latin typeface="Open Sans"/>
              <a:ea typeface="Open Sans"/>
              <a:cs typeface="Open Sans"/>
              <a:sym typeface="Open Sans"/>
            </a:endParaRPr>
          </a:p>
          <a:p>
            <a:pPr indent="-304165" lvl="1" marL="914400" rtl="0" algn="l">
              <a:lnSpc>
                <a:spcPct val="115000"/>
              </a:lnSpc>
              <a:spcBef>
                <a:spcPts val="1000"/>
              </a:spcBef>
              <a:spcAft>
                <a:spcPts val="0"/>
              </a:spcAft>
              <a:buClr>
                <a:srgbClr val="000E56"/>
              </a:buClr>
              <a:buSzPct val="100000"/>
              <a:buFont typeface="Open Sans"/>
              <a:buChar char="○"/>
            </a:pPr>
            <a:r>
              <a:rPr lang="en">
                <a:solidFill>
                  <a:srgbClr val="000E56"/>
                </a:solidFill>
                <a:latin typeface="Open Sans"/>
                <a:ea typeface="Open Sans"/>
                <a:cs typeface="Open Sans"/>
                <a:sym typeface="Open Sans"/>
              </a:rPr>
              <a:t>NAO 205-18: Open Science Public Access Policy for NOAA Publications and Data</a:t>
            </a:r>
            <a:endParaRPr>
              <a:solidFill>
                <a:srgbClr val="000E56"/>
              </a:solidFill>
              <a:latin typeface="Open Sans"/>
              <a:ea typeface="Open Sans"/>
              <a:cs typeface="Open Sans"/>
              <a:sym typeface="Open Sans"/>
            </a:endParaRPr>
          </a:p>
          <a:p>
            <a:pPr indent="-325755" lvl="0" marL="457200" rtl="0" algn="l">
              <a:lnSpc>
                <a:spcPct val="115000"/>
              </a:lnSpc>
              <a:spcBef>
                <a:spcPts val="1000"/>
              </a:spcBef>
              <a:spcAft>
                <a:spcPts val="0"/>
              </a:spcAft>
              <a:buClr>
                <a:srgbClr val="000E56"/>
              </a:buClr>
              <a:buSzPct val="100000"/>
              <a:buFont typeface="Open Sans"/>
              <a:buChar char="●"/>
            </a:pPr>
            <a:r>
              <a:rPr lang="en">
                <a:solidFill>
                  <a:srgbClr val="000E56"/>
                </a:solidFill>
                <a:latin typeface="Open Sans"/>
                <a:ea typeface="Open Sans"/>
                <a:cs typeface="Open Sans"/>
                <a:sym typeface="Open Sans"/>
              </a:rPr>
              <a:t>NAO 205-18 lays out a clear set of </a:t>
            </a:r>
            <a:r>
              <a:rPr b="1" lang="en">
                <a:solidFill>
                  <a:srgbClr val="000E56"/>
                </a:solidFill>
                <a:latin typeface="Open Sans"/>
                <a:ea typeface="Open Sans"/>
                <a:cs typeface="Open Sans"/>
                <a:sym typeface="Open Sans"/>
              </a:rPr>
              <a:t>public access to publications and data requirements</a:t>
            </a:r>
            <a:r>
              <a:rPr lang="en">
                <a:solidFill>
                  <a:srgbClr val="000E56"/>
                </a:solidFill>
                <a:latin typeface="Open Sans"/>
                <a:ea typeface="Open Sans"/>
                <a:cs typeface="Open Sans"/>
                <a:sym typeface="Open Sans"/>
              </a:rPr>
              <a:t> as well as flexibilities </a:t>
            </a:r>
            <a:endParaRPr>
              <a:solidFill>
                <a:srgbClr val="000E56"/>
              </a:solidFill>
              <a:latin typeface="Open Sans"/>
              <a:ea typeface="Open Sans"/>
              <a:cs typeface="Open Sans"/>
              <a:sym typeface="Open Sans"/>
            </a:endParaRPr>
          </a:p>
          <a:p>
            <a:pPr indent="-325755" lvl="0" marL="457200" rtl="0" algn="l">
              <a:lnSpc>
                <a:spcPct val="115000"/>
              </a:lnSpc>
              <a:spcBef>
                <a:spcPts val="1000"/>
              </a:spcBef>
              <a:spcAft>
                <a:spcPts val="0"/>
              </a:spcAft>
              <a:buClr>
                <a:srgbClr val="000E56"/>
              </a:buClr>
              <a:buSzPct val="100000"/>
              <a:buFont typeface="Open Sans"/>
              <a:buChar char="●"/>
            </a:pPr>
            <a:r>
              <a:rPr b="1" lang="en">
                <a:solidFill>
                  <a:srgbClr val="000E56"/>
                </a:solidFill>
                <a:latin typeface="Open Sans"/>
                <a:ea typeface="Open Sans"/>
                <a:cs typeface="Open Sans"/>
                <a:sym typeface="Open Sans"/>
              </a:rPr>
              <a:t>Implementation continues through 2027</a:t>
            </a:r>
            <a:r>
              <a:rPr lang="en">
                <a:solidFill>
                  <a:srgbClr val="000E56"/>
                </a:solidFill>
                <a:latin typeface="Open Sans"/>
                <a:ea typeface="Open Sans"/>
                <a:cs typeface="Open Sans"/>
                <a:sym typeface="Open Sans"/>
              </a:rPr>
              <a:t> (pending review of OMB Phase II Evidence Act guidance) - </a:t>
            </a:r>
            <a:r>
              <a:rPr b="1" i="1" lang="en">
                <a:solidFill>
                  <a:srgbClr val="FF0000"/>
                </a:solidFill>
                <a:latin typeface="Open Sans"/>
                <a:ea typeface="Open Sans"/>
                <a:cs typeface="Open Sans"/>
                <a:sym typeface="Open Sans"/>
              </a:rPr>
              <a:t>requirements do not start today!</a:t>
            </a:r>
            <a:endParaRPr b="1" i="1">
              <a:solidFill>
                <a:srgbClr val="FF0000"/>
              </a:solidFill>
              <a:latin typeface="Open Sans"/>
              <a:ea typeface="Open Sans"/>
              <a:cs typeface="Open Sans"/>
              <a:sym typeface="Open Sans"/>
            </a:endParaRPr>
          </a:p>
          <a:p>
            <a:pPr indent="-325755" lvl="0" marL="457200" rtl="0" algn="l">
              <a:lnSpc>
                <a:spcPct val="115000"/>
              </a:lnSpc>
              <a:spcBef>
                <a:spcPts val="1000"/>
              </a:spcBef>
              <a:spcAft>
                <a:spcPts val="0"/>
              </a:spcAft>
              <a:buClr>
                <a:srgbClr val="000E56"/>
              </a:buClr>
              <a:buSzPct val="100000"/>
              <a:buFont typeface="Open Sans"/>
              <a:buChar char="●"/>
            </a:pPr>
            <a:r>
              <a:rPr b="1" lang="en">
                <a:solidFill>
                  <a:srgbClr val="000E56"/>
                </a:solidFill>
                <a:highlight>
                  <a:schemeClr val="accent6"/>
                </a:highlight>
                <a:latin typeface="Open Sans"/>
                <a:ea typeface="Open Sans"/>
                <a:cs typeface="Open Sans"/>
                <a:sym typeface="Open Sans"/>
              </a:rPr>
              <a:t>Implementation efforts in FY25 will provide guidance and timelines on</a:t>
            </a:r>
            <a:r>
              <a:rPr lang="en">
                <a:solidFill>
                  <a:srgbClr val="000E56"/>
                </a:solidFill>
                <a:latin typeface="Open Sans"/>
                <a:ea typeface="Open Sans"/>
                <a:cs typeface="Open Sans"/>
                <a:sym typeface="Open Sans"/>
              </a:rPr>
              <a:t>:</a:t>
            </a:r>
            <a:endParaRPr>
              <a:solidFill>
                <a:srgbClr val="000E56"/>
              </a:solidFill>
              <a:latin typeface="Open Sans"/>
              <a:ea typeface="Open Sans"/>
              <a:cs typeface="Open Sans"/>
              <a:sym typeface="Open Sans"/>
            </a:endParaRPr>
          </a:p>
          <a:p>
            <a:pPr indent="-304165" lvl="1" marL="914400" rtl="0" algn="l">
              <a:lnSpc>
                <a:spcPct val="115000"/>
              </a:lnSpc>
              <a:spcBef>
                <a:spcPts val="1000"/>
              </a:spcBef>
              <a:spcAft>
                <a:spcPts val="0"/>
              </a:spcAft>
              <a:buClr>
                <a:srgbClr val="000E56"/>
              </a:buClr>
              <a:buSzPct val="100000"/>
              <a:buFont typeface="Open Sans"/>
              <a:buChar char="○"/>
            </a:pPr>
            <a:r>
              <a:rPr b="1" lang="en">
                <a:solidFill>
                  <a:srgbClr val="000E56"/>
                </a:solidFill>
                <a:latin typeface="Open Sans"/>
                <a:ea typeface="Open Sans"/>
                <a:cs typeface="Open Sans"/>
                <a:sym typeface="Open Sans"/>
              </a:rPr>
              <a:t>Immediate</a:t>
            </a:r>
            <a:r>
              <a:rPr b="1" lang="en">
                <a:solidFill>
                  <a:srgbClr val="000E56"/>
                </a:solidFill>
                <a:latin typeface="Open Sans"/>
                <a:ea typeface="Open Sans"/>
                <a:cs typeface="Open Sans"/>
                <a:sym typeface="Open Sans"/>
              </a:rPr>
              <a:t> release of publications</a:t>
            </a:r>
            <a:r>
              <a:rPr lang="en">
                <a:solidFill>
                  <a:srgbClr val="000E56"/>
                </a:solidFill>
                <a:latin typeface="Open Sans"/>
                <a:ea typeface="Open Sans"/>
                <a:cs typeface="Open Sans"/>
                <a:sym typeface="Open Sans"/>
              </a:rPr>
              <a:t> in the NOAA Institutional Repository (IR) - no embargo</a:t>
            </a:r>
            <a:endParaRPr>
              <a:solidFill>
                <a:srgbClr val="000E56"/>
              </a:solidFill>
              <a:latin typeface="Open Sans"/>
              <a:ea typeface="Open Sans"/>
              <a:cs typeface="Open Sans"/>
              <a:sym typeface="Open Sans"/>
            </a:endParaRPr>
          </a:p>
          <a:p>
            <a:pPr indent="-304165" lvl="1" marL="914400" rtl="0" algn="l">
              <a:lnSpc>
                <a:spcPct val="115000"/>
              </a:lnSpc>
              <a:spcBef>
                <a:spcPts val="1000"/>
              </a:spcBef>
              <a:spcAft>
                <a:spcPts val="0"/>
              </a:spcAft>
              <a:buClr>
                <a:srgbClr val="000E56"/>
              </a:buClr>
              <a:buSzPct val="100000"/>
              <a:buFont typeface="Open Sans"/>
              <a:buChar char="○"/>
            </a:pPr>
            <a:r>
              <a:rPr b="1" lang="en">
                <a:solidFill>
                  <a:srgbClr val="000E56"/>
                </a:solidFill>
                <a:latin typeface="Open Sans"/>
                <a:ea typeface="Open Sans"/>
                <a:cs typeface="Open Sans"/>
                <a:sym typeface="Open Sans"/>
              </a:rPr>
              <a:t>Persistent Identifiers</a:t>
            </a:r>
            <a:r>
              <a:rPr lang="en">
                <a:solidFill>
                  <a:srgbClr val="000E56"/>
                </a:solidFill>
                <a:latin typeface="Open Sans"/>
                <a:ea typeface="Open Sans"/>
                <a:cs typeface="Open Sans"/>
                <a:sym typeface="Open Sans"/>
              </a:rPr>
              <a:t>: e.g. ORCIDs, Data DOIs, etc. </a:t>
            </a:r>
            <a:endParaRPr>
              <a:solidFill>
                <a:srgbClr val="000E56"/>
              </a:solidFill>
              <a:latin typeface="Open Sans"/>
              <a:ea typeface="Open Sans"/>
              <a:cs typeface="Open Sans"/>
              <a:sym typeface="Open Sans"/>
            </a:endParaRPr>
          </a:p>
          <a:p>
            <a:pPr indent="-304165" lvl="1" marL="914400" rtl="0" algn="l">
              <a:lnSpc>
                <a:spcPct val="115000"/>
              </a:lnSpc>
              <a:spcBef>
                <a:spcPts val="1000"/>
              </a:spcBef>
              <a:spcAft>
                <a:spcPts val="1000"/>
              </a:spcAft>
              <a:buClr>
                <a:srgbClr val="000E56"/>
              </a:buClr>
              <a:buSzPct val="100000"/>
              <a:buFont typeface="Open Sans"/>
              <a:buChar char="○"/>
            </a:pPr>
            <a:r>
              <a:rPr b="1" lang="en">
                <a:solidFill>
                  <a:srgbClr val="000E56"/>
                </a:solidFill>
                <a:latin typeface="Open Sans"/>
                <a:ea typeface="Open Sans"/>
                <a:cs typeface="Open Sans"/>
                <a:sym typeface="Open Sans"/>
              </a:rPr>
              <a:t>Public access to data</a:t>
            </a:r>
            <a:r>
              <a:rPr lang="en">
                <a:solidFill>
                  <a:srgbClr val="000E56"/>
                </a:solidFill>
                <a:latin typeface="Open Sans"/>
                <a:ea typeface="Open Sans"/>
                <a:cs typeface="Open Sans"/>
                <a:sym typeface="Open Sans"/>
              </a:rPr>
              <a:t>, </a:t>
            </a:r>
            <a:r>
              <a:rPr lang="en">
                <a:solidFill>
                  <a:srgbClr val="000E56"/>
                </a:solidFill>
                <a:latin typeface="Open Sans"/>
                <a:ea typeface="Open Sans"/>
                <a:cs typeface="Open Sans"/>
                <a:sym typeface="Open Sans"/>
              </a:rPr>
              <a:t>publicly</a:t>
            </a:r>
            <a:r>
              <a:rPr lang="en">
                <a:solidFill>
                  <a:srgbClr val="000E56"/>
                </a:solidFill>
                <a:latin typeface="Open Sans"/>
                <a:ea typeface="Open Sans"/>
                <a:cs typeface="Open Sans"/>
                <a:sym typeface="Open Sans"/>
              </a:rPr>
              <a:t> available at the time of publication, clarifying approved repositories, data archive, data preservation steps.</a:t>
            </a:r>
            <a:endParaRPr>
              <a:solidFill>
                <a:srgbClr val="000E56"/>
              </a:solidFill>
              <a:latin typeface="Open Sans"/>
              <a:ea typeface="Open Sans"/>
              <a:cs typeface="Open Sans"/>
              <a:sym typeface="Open Sans"/>
            </a:endParaRPr>
          </a:p>
        </p:txBody>
      </p:sp>
      <p:sp>
        <p:nvSpPr>
          <p:cNvPr id="94" name="Google Shape;94;p16"/>
          <p:cNvSpPr/>
          <p:nvPr/>
        </p:nvSpPr>
        <p:spPr>
          <a:xfrm>
            <a:off x="102598" y="494325"/>
            <a:ext cx="473400" cy="4173300"/>
          </a:xfrm>
          <a:prstGeom prst="rtTriangle">
            <a:avLst/>
          </a:prstGeom>
          <a:solidFill>
            <a:srgbClr val="17A4F7"/>
          </a:solidFill>
          <a:ln cap="flat" cmpd="sng" w="9525">
            <a:solidFill>
              <a:srgbClr val="17A4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6"/>
          <p:cNvSpPr txBox="1"/>
          <p:nvPr/>
        </p:nvSpPr>
        <p:spPr>
          <a:xfrm>
            <a:off x="4306400" y="4812200"/>
            <a:ext cx="4381800" cy="292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700">
                <a:solidFill>
                  <a:srgbClr val="013F91"/>
                </a:solidFill>
              </a:rPr>
              <a:t>Department of Commerce | National Oceanic and Atmospheric Administration | NOAA Library | </a:t>
            </a:r>
            <a:endParaRPr sz="700">
              <a:solidFill>
                <a:srgbClr val="013F9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17"/>
          <p:cNvSpPr txBox="1"/>
          <p:nvPr/>
        </p:nvSpPr>
        <p:spPr>
          <a:xfrm>
            <a:off x="1239000" y="4412000"/>
            <a:ext cx="3680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01" name="Google Shape;101;p17"/>
          <p:cNvSpPr/>
          <p:nvPr/>
        </p:nvSpPr>
        <p:spPr>
          <a:xfrm>
            <a:off x="125" y="475"/>
            <a:ext cx="531900" cy="5143500"/>
          </a:xfrm>
          <a:prstGeom prst="rtTriangle">
            <a:avLst/>
          </a:prstGeom>
          <a:solidFill>
            <a:srgbClr val="000E56"/>
          </a:solidFill>
          <a:ln cap="flat" cmpd="sng" w="9525">
            <a:solidFill>
              <a:srgbClr val="013F9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2" name="Google Shape;102;p17"/>
          <p:cNvPicPr preferRelativeResize="0"/>
          <p:nvPr/>
        </p:nvPicPr>
        <p:blipFill>
          <a:blip r:embed="rId3">
            <a:alphaModFix/>
          </a:blip>
          <a:stretch>
            <a:fillRect/>
          </a:stretch>
        </p:blipFill>
        <p:spPr>
          <a:xfrm>
            <a:off x="8466600" y="4602825"/>
            <a:ext cx="524701" cy="524701"/>
          </a:xfrm>
          <a:prstGeom prst="rect">
            <a:avLst/>
          </a:prstGeom>
          <a:noFill/>
          <a:ln>
            <a:noFill/>
          </a:ln>
        </p:spPr>
      </p:pic>
      <p:sp>
        <p:nvSpPr>
          <p:cNvPr id="103" name="Google Shape;103;p17"/>
          <p:cNvSpPr txBox="1"/>
          <p:nvPr>
            <p:ph type="title"/>
          </p:nvPr>
        </p:nvSpPr>
        <p:spPr>
          <a:xfrm>
            <a:off x="914097" y="205375"/>
            <a:ext cx="79182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solidFill>
                  <a:srgbClr val="000E56"/>
                </a:solidFill>
                <a:latin typeface="Open Sans Medium"/>
                <a:ea typeface="Open Sans Medium"/>
                <a:cs typeface="Open Sans Medium"/>
                <a:sym typeface="Open Sans Medium"/>
              </a:rPr>
              <a:t>NAO 205-18: Major Policy Elements re: Publications</a:t>
            </a:r>
            <a:endParaRPr>
              <a:solidFill>
                <a:srgbClr val="000E56"/>
              </a:solidFill>
              <a:latin typeface="Open Sans Medium"/>
              <a:ea typeface="Open Sans Medium"/>
              <a:cs typeface="Open Sans Medium"/>
              <a:sym typeface="Open Sans Medium"/>
            </a:endParaRPr>
          </a:p>
        </p:txBody>
      </p:sp>
      <p:sp>
        <p:nvSpPr>
          <p:cNvPr id="104" name="Google Shape;104;p17"/>
          <p:cNvSpPr/>
          <p:nvPr/>
        </p:nvSpPr>
        <p:spPr>
          <a:xfrm>
            <a:off x="48923" y="255275"/>
            <a:ext cx="512400" cy="4675200"/>
          </a:xfrm>
          <a:prstGeom prst="rtTriangle">
            <a:avLst/>
          </a:prstGeom>
          <a:solidFill>
            <a:srgbClr val="013F91"/>
          </a:solidFill>
          <a:ln cap="flat" cmpd="sng" w="9525">
            <a:solidFill>
              <a:srgbClr val="013F9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7"/>
          <p:cNvSpPr txBox="1"/>
          <p:nvPr>
            <p:ph idx="1" type="body"/>
          </p:nvPr>
        </p:nvSpPr>
        <p:spPr>
          <a:xfrm>
            <a:off x="914100" y="962550"/>
            <a:ext cx="7600500" cy="3778800"/>
          </a:xfrm>
          <a:prstGeom prst="rect">
            <a:avLst/>
          </a:prstGeom>
        </p:spPr>
        <p:txBody>
          <a:bodyPr anchorCtr="0" anchor="t" bIns="91425" lIns="91425" spcFirstLastPara="1" rIns="91425" wrap="square" tIns="91425">
            <a:normAutofit fontScale="77500" lnSpcReduction="20000"/>
          </a:bodyPr>
          <a:lstStyle/>
          <a:p>
            <a:pPr indent="-317182" lvl="0" marL="457200" rtl="0" algn="l">
              <a:spcBef>
                <a:spcPts val="0"/>
              </a:spcBef>
              <a:spcAft>
                <a:spcPts val="0"/>
              </a:spcAft>
              <a:buClr>
                <a:srgbClr val="000E56"/>
              </a:buClr>
              <a:buSzPct val="100000"/>
              <a:buFont typeface="Open Sans"/>
              <a:buChar char="●"/>
            </a:pPr>
            <a:r>
              <a:rPr lang="en">
                <a:solidFill>
                  <a:srgbClr val="000E56"/>
                </a:solidFill>
                <a:latin typeface="Open Sans"/>
                <a:ea typeface="Open Sans"/>
                <a:cs typeface="Open Sans"/>
                <a:sym typeface="Open Sans"/>
              </a:rPr>
              <a:t>§2. This policy </a:t>
            </a:r>
            <a:r>
              <a:rPr b="1" lang="en">
                <a:solidFill>
                  <a:srgbClr val="0000FF"/>
                </a:solidFill>
                <a:latin typeface="Open Sans"/>
                <a:ea typeface="Open Sans"/>
                <a:cs typeface="Open Sans"/>
                <a:sym typeface="Open Sans"/>
              </a:rPr>
              <a:t>applies to all NOAA Fundamental Research Communications (FRC)</a:t>
            </a:r>
            <a:r>
              <a:rPr lang="en">
                <a:solidFill>
                  <a:srgbClr val="000E56"/>
                </a:solidFill>
                <a:latin typeface="Open Sans"/>
                <a:ea typeface="Open Sans"/>
                <a:cs typeface="Open Sans"/>
                <a:sym typeface="Open Sans"/>
              </a:rPr>
              <a:t> and all unrestricted NOAA scientific data with sufficient data quality and documentation to validate and replicate research findings.</a:t>
            </a:r>
            <a:endParaRPr>
              <a:solidFill>
                <a:srgbClr val="000E56"/>
              </a:solidFill>
              <a:latin typeface="Open Sans"/>
              <a:ea typeface="Open Sans"/>
              <a:cs typeface="Open Sans"/>
              <a:sym typeface="Open Sans"/>
            </a:endParaRPr>
          </a:p>
          <a:p>
            <a:pPr indent="-317182" lvl="0" marL="457200" rtl="0" algn="l">
              <a:spcBef>
                <a:spcPts val="1000"/>
              </a:spcBef>
              <a:spcAft>
                <a:spcPts val="0"/>
              </a:spcAft>
              <a:buClr>
                <a:srgbClr val="000E56"/>
              </a:buClr>
              <a:buSzPct val="100000"/>
              <a:buFont typeface="Open Sans"/>
              <a:buChar char="●"/>
            </a:pPr>
            <a:r>
              <a:rPr lang="en">
                <a:solidFill>
                  <a:srgbClr val="000E56"/>
                </a:solidFill>
                <a:latin typeface="Open Sans"/>
                <a:ea typeface="Open Sans"/>
                <a:cs typeface="Open Sans"/>
                <a:sym typeface="Open Sans"/>
              </a:rPr>
              <a:t>§4.02.a </a:t>
            </a:r>
            <a:r>
              <a:rPr b="1" lang="en">
                <a:solidFill>
                  <a:srgbClr val="0000FF"/>
                </a:solidFill>
                <a:latin typeface="Open Sans"/>
                <a:ea typeface="Open Sans"/>
                <a:cs typeface="Open Sans"/>
                <a:sym typeface="Open Sans"/>
              </a:rPr>
              <a:t>All peer-reviewed scholarly publications and NOAA Technical Memoranda and Reports</a:t>
            </a:r>
            <a:r>
              <a:rPr lang="en">
                <a:solidFill>
                  <a:srgbClr val="000E56"/>
                </a:solidFill>
                <a:latin typeface="Open Sans"/>
                <a:ea typeface="Open Sans"/>
                <a:cs typeface="Open Sans"/>
                <a:sym typeface="Open Sans"/>
              </a:rPr>
              <a:t> authored or co-authored by NOAA employees, contractors, affiliates, or grantees, shall be made freely available and publicly accessible </a:t>
            </a:r>
            <a:r>
              <a:rPr b="1" lang="en">
                <a:solidFill>
                  <a:srgbClr val="0000FF"/>
                </a:solidFill>
                <a:latin typeface="Open Sans"/>
                <a:ea typeface="Open Sans"/>
                <a:cs typeface="Open Sans"/>
                <a:sym typeface="Open Sans"/>
              </a:rPr>
              <a:t>without any embargo or delay</a:t>
            </a:r>
            <a:r>
              <a:rPr lang="en">
                <a:solidFill>
                  <a:srgbClr val="000E56"/>
                </a:solidFill>
                <a:latin typeface="Open Sans"/>
                <a:ea typeface="Open Sans"/>
                <a:cs typeface="Open Sans"/>
                <a:sym typeface="Open Sans"/>
              </a:rPr>
              <a:t> after publication.</a:t>
            </a:r>
            <a:endParaRPr>
              <a:solidFill>
                <a:srgbClr val="000E56"/>
              </a:solidFill>
              <a:latin typeface="Open Sans"/>
              <a:ea typeface="Open Sans"/>
              <a:cs typeface="Open Sans"/>
              <a:sym typeface="Open Sans"/>
            </a:endParaRPr>
          </a:p>
          <a:p>
            <a:pPr indent="-317182" lvl="0" marL="457200" rtl="0" algn="l">
              <a:spcBef>
                <a:spcPts val="1000"/>
              </a:spcBef>
              <a:spcAft>
                <a:spcPts val="0"/>
              </a:spcAft>
              <a:buClr>
                <a:srgbClr val="000E56"/>
              </a:buClr>
              <a:buSzPct val="100000"/>
              <a:buFont typeface="Open Sans"/>
              <a:buChar char="●"/>
            </a:pPr>
            <a:r>
              <a:rPr lang="en">
                <a:solidFill>
                  <a:srgbClr val="000E56"/>
                </a:solidFill>
                <a:latin typeface="Open Sans"/>
                <a:ea typeface="Open Sans"/>
                <a:cs typeface="Open Sans"/>
                <a:sym typeface="Open Sans"/>
              </a:rPr>
              <a:t>§4.02.d. NOAA shall </a:t>
            </a:r>
            <a:r>
              <a:rPr b="1" lang="en">
                <a:solidFill>
                  <a:srgbClr val="0000FF"/>
                </a:solidFill>
                <a:latin typeface="Open Sans"/>
                <a:ea typeface="Open Sans"/>
                <a:cs typeface="Open Sans"/>
                <a:sym typeface="Open Sans"/>
              </a:rPr>
              <a:t>develop and maintain the NIR</a:t>
            </a:r>
            <a:r>
              <a:rPr lang="en">
                <a:solidFill>
                  <a:srgbClr val="000E56"/>
                </a:solidFill>
                <a:latin typeface="Open Sans"/>
                <a:ea typeface="Open Sans"/>
                <a:cs typeface="Open Sans"/>
                <a:sym typeface="Open Sans"/>
              </a:rPr>
              <a:t>  (as per NAO 205-17A Information Access)</a:t>
            </a:r>
            <a:endParaRPr>
              <a:solidFill>
                <a:srgbClr val="000E56"/>
              </a:solidFill>
              <a:latin typeface="Open Sans"/>
              <a:ea typeface="Open Sans"/>
              <a:cs typeface="Open Sans"/>
              <a:sym typeface="Open Sans"/>
            </a:endParaRPr>
          </a:p>
          <a:p>
            <a:pPr indent="-317182" lvl="0" marL="457200" rtl="0" algn="l">
              <a:spcBef>
                <a:spcPts val="1000"/>
              </a:spcBef>
              <a:spcAft>
                <a:spcPts val="0"/>
              </a:spcAft>
              <a:buClr>
                <a:srgbClr val="000E56"/>
              </a:buClr>
              <a:buSzPct val="100000"/>
              <a:buFont typeface="Open Sans"/>
              <a:buChar char="●"/>
            </a:pPr>
            <a:r>
              <a:rPr lang="en">
                <a:solidFill>
                  <a:srgbClr val="000E56"/>
                </a:solidFill>
                <a:latin typeface="Open Sans"/>
                <a:ea typeface="Open Sans"/>
                <a:cs typeface="Open Sans"/>
                <a:sym typeface="Open Sans"/>
              </a:rPr>
              <a:t>§4.02.b. Authors (both intramural and extramural) shall </a:t>
            </a:r>
            <a:r>
              <a:rPr b="1" lang="en">
                <a:solidFill>
                  <a:srgbClr val="0000FF"/>
                </a:solidFill>
                <a:latin typeface="Open Sans"/>
                <a:ea typeface="Open Sans"/>
                <a:cs typeface="Open Sans"/>
                <a:sym typeface="Open Sans"/>
              </a:rPr>
              <a:t>submit their final post-refereed, pre-publication manuscript, to the NOAA Institutional Repository</a:t>
            </a:r>
            <a:r>
              <a:rPr lang="en">
                <a:solidFill>
                  <a:srgbClr val="000E56"/>
                </a:solidFill>
                <a:latin typeface="Open Sans"/>
                <a:ea typeface="Open Sans"/>
                <a:cs typeface="Open Sans"/>
                <a:sym typeface="Open Sans"/>
              </a:rPr>
              <a:t> (NIR), the designated public access repository for NOAA publications.</a:t>
            </a:r>
            <a:endParaRPr>
              <a:solidFill>
                <a:srgbClr val="000E56"/>
              </a:solidFill>
              <a:latin typeface="Open Sans"/>
              <a:ea typeface="Open Sans"/>
              <a:cs typeface="Open Sans"/>
              <a:sym typeface="Open Sans"/>
            </a:endParaRPr>
          </a:p>
          <a:p>
            <a:pPr indent="-302418" lvl="1" marL="914400" rtl="0" algn="l">
              <a:spcBef>
                <a:spcPts val="0"/>
              </a:spcBef>
              <a:spcAft>
                <a:spcPts val="0"/>
              </a:spcAft>
              <a:buClr>
                <a:srgbClr val="000E56"/>
              </a:buClr>
              <a:buSzPct val="100000"/>
              <a:buFont typeface="Open Sans"/>
              <a:buChar char="○"/>
            </a:pPr>
            <a:r>
              <a:rPr lang="en" sz="1500">
                <a:solidFill>
                  <a:srgbClr val="000E56"/>
                </a:solidFill>
                <a:latin typeface="Open Sans"/>
                <a:ea typeface="Open Sans"/>
                <a:cs typeface="Open Sans"/>
                <a:sym typeface="Open Sans"/>
              </a:rPr>
              <a:t>When permissible, the publisher’s version of record (VOR) may be substituted. </a:t>
            </a:r>
            <a:endParaRPr sz="1500">
              <a:solidFill>
                <a:srgbClr val="000E56"/>
              </a:solidFill>
              <a:latin typeface="Open Sans"/>
              <a:ea typeface="Open Sans"/>
              <a:cs typeface="Open Sans"/>
              <a:sym typeface="Open Sans"/>
            </a:endParaRPr>
          </a:p>
          <a:p>
            <a:pPr indent="-302418" lvl="1" marL="914400" rtl="0" algn="l">
              <a:spcBef>
                <a:spcPts val="0"/>
              </a:spcBef>
              <a:spcAft>
                <a:spcPts val="0"/>
              </a:spcAft>
              <a:buClr>
                <a:srgbClr val="000E56"/>
              </a:buClr>
              <a:buSzPct val="100000"/>
              <a:buFont typeface="Open Sans"/>
              <a:buChar char="○"/>
            </a:pPr>
            <a:r>
              <a:rPr lang="en" sz="1500">
                <a:solidFill>
                  <a:srgbClr val="000E56"/>
                </a:solidFill>
                <a:latin typeface="Open Sans"/>
                <a:ea typeface="Open Sans"/>
                <a:cs typeface="Open Sans"/>
                <a:sym typeface="Open Sans"/>
              </a:rPr>
              <a:t>§4.03.d.iv. Post-refereed, pre-publication manuscripts submitted to the NIR shall be made publicly available under either a Universal Public Domain Dedication License (CC0) or a a Creative Commons Attribution License (CC BY).</a:t>
            </a:r>
            <a:endParaRPr sz="1500">
              <a:solidFill>
                <a:srgbClr val="000E56"/>
              </a:solidFill>
              <a:latin typeface="Open Sans"/>
              <a:ea typeface="Open Sans"/>
              <a:cs typeface="Open Sans"/>
              <a:sym typeface="Open Sans"/>
            </a:endParaRPr>
          </a:p>
        </p:txBody>
      </p:sp>
      <p:sp>
        <p:nvSpPr>
          <p:cNvPr id="106" name="Google Shape;106;p17"/>
          <p:cNvSpPr/>
          <p:nvPr/>
        </p:nvSpPr>
        <p:spPr>
          <a:xfrm>
            <a:off x="102598" y="494325"/>
            <a:ext cx="473400" cy="4173300"/>
          </a:xfrm>
          <a:prstGeom prst="rtTriangle">
            <a:avLst/>
          </a:prstGeom>
          <a:solidFill>
            <a:srgbClr val="17A4F7"/>
          </a:solidFill>
          <a:ln cap="flat" cmpd="sng" w="9525">
            <a:solidFill>
              <a:srgbClr val="17A4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7"/>
          <p:cNvSpPr txBox="1"/>
          <p:nvPr/>
        </p:nvSpPr>
        <p:spPr>
          <a:xfrm>
            <a:off x="4306400" y="4812200"/>
            <a:ext cx="4381800" cy="292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700">
                <a:solidFill>
                  <a:srgbClr val="013F91"/>
                </a:solidFill>
              </a:rPr>
              <a:t>Department of Commerce | National Oceanic and Atmospheric Administration | NOAA Library | </a:t>
            </a:r>
            <a:endParaRPr sz="700">
              <a:solidFill>
                <a:srgbClr val="013F9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8"/>
          <p:cNvSpPr txBox="1"/>
          <p:nvPr/>
        </p:nvSpPr>
        <p:spPr>
          <a:xfrm>
            <a:off x="1239000" y="4412000"/>
            <a:ext cx="3680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13" name="Google Shape;113;p18"/>
          <p:cNvSpPr/>
          <p:nvPr/>
        </p:nvSpPr>
        <p:spPr>
          <a:xfrm>
            <a:off x="125" y="475"/>
            <a:ext cx="531900" cy="5143500"/>
          </a:xfrm>
          <a:prstGeom prst="rtTriangle">
            <a:avLst/>
          </a:prstGeom>
          <a:solidFill>
            <a:srgbClr val="000E56"/>
          </a:solidFill>
          <a:ln cap="flat" cmpd="sng" w="9525">
            <a:solidFill>
              <a:srgbClr val="013F9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4" name="Google Shape;114;p18"/>
          <p:cNvPicPr preferRelativeResize="0"/>
          <p:nvPr/>
        </p:nvPicPr>
        <p:blipFill>
          <a:blip r:embed="rId3">
            <a:alphaModFix/>
          </a:blip>
          <a:stretch>
            <a:fillRect/>
          </a:stretch>
        </p:blipFill>
        <p:spPr>
          <a:xfrm>
            <a:off x="8466600" y="4602825"/>
            <a:ext cx="524701" cy="524701"/>
          </a:xfrm>
          <a:prstGeom prst="rect">
            <a:avLst/>
          </a:prstGeom>
          <a:noFill/>
          <a:ln>
            <a:noFill/>
          </a:ln>
        </p:spPr>
      </p:pic>
      <p:sp>
        <p:nvSpPr>
          <p:cNvPr id="115" name="Google Shape;115;p18"/>
          <p:cNvSpPr txBox="1"/>
          <p:nvPr>
            <p:ph type="title"/>
          </p:nvPr>
        </p:nvSpPr>
        <p:spPr>
          <a:xfrm>
            <a:off x="914097" y="205375"/>
            <a:ext cx="79182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solidFill>
                  <a:srgbClr val="000E56"/>
                </a:solidFill>
                <a:latin typeface="Open Sans Medium"/>
                <a:ea typeface="Open Sans Medium"/>
                <a:cs typeface="Open Sans Medium"/>
                <a:sym typeface="Open Sans Medium"/>
              </a:rPr>
              <a:t>NAO 205-18: Major Policy Elements re: Data</a:t>
            </a:r>
            <a:endParaRPr>
              <a:solidFill>
                <a:srgbClr val="000E56"/>
              </a:solidFill>
              <a:latin typeface="Open Sans Medium"/>
              <a:ea typeface="Open Sans Medium"/>
              <a:cs typeface="Open Sans Medium"/>
              <a:sym typeface="Open Sans Medium"/>
            </a:endParaRPr>
          </a:p>
        </p:txBody>
      </p:sp>
      <p:sp>
        <p:nvSpPr>
          <p:cNvPr id="116" name="Google Shape;116;p18"/>
          <p:cNvSpPr/>
          <p:nvPr/>
        </p:nvSpPr>
        <p:spPr>
          <a:xfrm>
            <a:off x="48923" y="255275"/>
            <a:ext cx="512400" cy="4675200"/>
          </a:xfrm>
          <a:prstGeom prst="rtTriangle">
            <a:avLst/>
          </a:prstGeom>
          <a:solidFill>
            <a:srgbClr val="013F91"/>
          </a:solidFill>
          <a:ln cap="flat" cmpd="sng" w="9525">
            <a:solidFill>
              <a:srgbClr val="013F9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8"/>
          <p:cNvSpPr txBox="1"/>
          <p:nvPr>
            <p:ph idx="1" type="body"/>
          </p:nvPr>
        </p:nvSpPr>
        <p:spPr>
          <a:xfrm>
            <a:off x="914100" y="962550"/>
            <a:ext cx="7600500" cy="3606300"/>
          </a:xfrm>
          <a:prstGeom prst="rect">
            <a:avLst/>
          </a:prstGeom>
        </p:spPr>
        <p:txBody>
          <a:bodyPr anchorCtr="0" anchor="t" bIns="91425" lIns="91425" spcFirstLastPara="1" rIns="91425" wrap="square" tIns="91425">
            <a:normAutofit/>
          </a:bodyPr>
          <a:lstStyle/>
          <a:p>
            <a:pPr indent="-317500" lvl="0" marL="457200" rtl="0" algn="l">
              <a:spcBef>
                <a:spcPts val="0"/>
              </a:spcBef>
              <a:spcAft>
                <a:spcPts val="0"/>
              </a:spcAft>
              <a:buClr>
                <a:srgbClr val="07336F"/>
              </a:buClr>
              <a:buSzPts val="1400"/>
              <a:buFont typeface="Open Sans Medium"/>
              <a:buChar char="●"/>
            </a:pPr>
            <a:r>
              <a:rPr lang="en" sz="1400">
                <a:solidFill>
                  <a:srgbClr val="07336F"/>
                </a:solidFill>
                <a:latin typeface="Open Sans Medium"/>
                <a:ea typeface="Open Sans Medium"/>
                <a:cs typeface="Open Sans Medium"/>
                <a:sym typeface="Open Sans Medium"/>
              </a:rPr>
              <a:t>§2. This policy applies to all [...] </a:t>
            </a:r>
            <a:r>
              <a:rPr b="1" lang="en" sz="1400">
                <a:solidFill>
                  <a:srgbClr val="0000FF"/>
                </a:solidFill>
                <a:latin typeface="Open Sans"/>
                <a:ea typeface="Open Sans"/>
                <a:cs typeface="Open Sans"/>
                <a:sym typeface="Open Sans"/>
              </a:rPr>
              <a:t>all unrestricted NOAA scientific data</a:t>
            </a:r>
            <a:r>
              <a:rPr lang="en" sz="1400">
                <a:solidFill>
                  <a:srgbClr val="07336F"/>
                </a:solidFill>
                <a:latin typeface="Open Sans Medium"/>
                <a:ea typeface="Open Sans Medium"/>
                <a:cs typeface="Open Sans Medium"/>
                <a:sym typeface="Open Sans Medium"/>
              </a:rPr>
              <a:t> with sufficient data quality and documentation to validate and replicate research findings.</a:t>
            </a:r>
            <a:endParaRPr sz="1400">
              <a:solidFill>
                <a:srgbClr val="07336F"/>
              </a:solidFill>
              <a:latin typeface="Open Sans Medium"/>
              <a:ea typeface="Open Sans Medium"/>
              <a:cs typeface="Open Sans Medium"/>
              <a:sym typeface="Open Sans Medium"/>
            </a:endParaRPr>
          </a:p>
          <a:p>
            <a:pPr indent="-317500" lvl="0" marL="457200" rtl="0" algn="l">
              <a:spcBef>
                <a:spcPts val="1000"/>
              </a:spcBef>
              <a:spcAft>
                <a:spcPts val="0"/>
              </a:spcAft>
              <a:buClr>
                <a:srgbClr val="07336F"/>
              </a:buClr>
              <a:buSzPts val="1400"/>
              <a:buFont typeface="Open Sans Medium"/>
              <a:buChar char="●"/>
            </a:pPr>
            <a:r>
              <a:rPr lang="en" sz="1400">
                <a:solidFill>
                  <a:srgbClr val="07336F"/>
                </a:solidFill>
                <a:latin typeface="Open Sans Medium"/>
                <a:ea typeface="Open Sans Medium"/>
                <a:cs typeface="Open Sans Medium"/>
                <a:sym typeface="Open Sans Medium"/>
              </a:rPr>
              <a:t>§4.03.a. NOAA-funded </a:t>
            </a:r>
            <a:r>
              <a:rPr b="1" lang="en" sz="1400">
                <a:solidFill>
                  <a:srgbClr val="0000FF"/>
                </a:solidFill>
                <a:latin typeface="Open Sans"/>
                <a:ea typeface="Open Sans"/>
                <a:cs typeface="Open Sans"/>
                <a:sym typeface="Open Sans"/>
              </a:rPr>
              <a:t>scientific data underlying publications</a:t>
            </a:r>
            <a:r>
              <a:rPr lang="en" sz="1400">
                <a:solidFill>
                  <a:srgbClr val="07336F"/>
                </a:solidFill>
                <a:latin typeface="Open Sans Medium"/>
                <a:ea typeface="Open Sans Medium"/>
                <a:cs typeface="Open Sans Medium"/>
                <a:sym typeface="Open Sans Medium"/>
              </a:rPr>
              <a:t>, authored or co-authored by NOAA employees, contractors, affiliates, or grantees, shall be made freely available and publicly accessible by default at the time of publication, unless subject to limitations, and are subject to NOAA policies regarding Data Management and Sharing Plans (DMSPs). </a:t>
            </a:r>
            <a:endParaRPr sz="1400">
              <a:solidFill>
                <a:srgbClr val="07336F"/>
              </a:solidFill>
              <a:latin typeface="Open Sans Medium"/>
              <a:ea typeface="Open Sans Medium"/>
              <a:cs typeface="Open Sans Medium"/>
              <a:sym typeface="Open Sans Medium"/>
            </a:endParaRPr>
          </a:p>
          <a:p>
            <a:pPr indent="-317500" lvl="0" marL="457200" rtl="0" algn="l">
              <a:spcBef>
                <a:spcPts val="1000"/>
              </a:spcBef>
              <a:spcAft>
                <a:spcPts val="0"/>
              </a:spcAft>
              <a:buClr>
                <a:srgbClr val="07336F"/>
              </a:buClr>
              <a:buSzPts val="1400"/>
              <a:buFont typeface="Open Sans Medium"/>
              <a:buChar char="●"/>
            </a:pPr>
            <a:r>
              <a:rPr lang="en" sz="1300">
                <a:solidFill>
                  <a:srgbClr val="07336F"/>
                </a:solidFill>
                <a:latin typeface="Open Sans Medium"/>
                <a:ea typeface="Open Sans Medium"/>
                <a:cs typeface="Open Sans Medium"/>
                <a:sym typeface="Open Sans Medium"/>
              </a:rPr>
              <a:t>§4.03.b. NOAA-funded </a:t>
            </a:r>
            <a:r>
              <a:rPr b="1" lang="en" sz="1300">
                <a:solidFill>
                  <a:srgbClr val="0000FF"/>
                </a:solidFill>
                <a:latin typeface="Open Sans"/>
                <a:ea typeface="Open Sans"/>
                <a:cs typeface="Open Sans"/>
                <a:sym typeface="Open Sans"/>
              </a:rPr>
              <a:t>scientific data that are not associated with scholarly publications</a:t>
            </a:r>
            <a:r>
              <a:rPr lang="en" sz="1300">
                <a:solidFill>
                  <a:srgbClr val="07336F"/>
                </a:solidFill>
                <a:latin typeface="Open Sans Medium"/>
                <a:ea typeface="Open Sans Medium"/>
                <a:cs typeface="Open Sans Medium"/>
                <a:sym typeface="Open Sans Medium"/>
              </a:rPr>
              <a:t>, including observing system data and all other environmental data, shall be made freely available and publicly accessible in accordance with the data dissemination date(s) of their approved DMSPs; data shall be made available upon completion of at least minimally sufficient QA/QC, not to exceed two years from collection.</a:t>
            </a:r>
            <a:endParaRPr>
              <a:solidFill>
                <a:srgbClr val="000E56"/>
              </a:solidFill>
              <a:latin typeface="Open Sans"/>
              <a:ea typeface="Open Sans"/>
              <a:cs typeface="Open Sans"/>
              <a:sym typeface="Open Sans"/>
            </a:endParaRPr>
          </a:p>
        </p:txBody>
      </p:sp>
      <p:sp>
        <p:nvSpPr>
          <p:cNvPr id="118" name="Google Shape;118;p18"/>
          <p:cNvSpPr/>
          <p:nvPr/>
        </p:nvSpPr>
        <p:spPr>
          <a:xfrm>
            <a:off x="102598" y="494325"/>
            <a:ext cx="473400" cy="4173300"/>
          </a:xfrm>
          <a:prstGeom prst="rtTriangle">
            <a:avLst/>
          </a:prstGeom>
          <a:solidFill>
            <a:srgbClr val="17A4F7"/>
          </a:solidFill>
          <a:ln cap="flat" cmpd="sng" w="9525">
            <a:solidFill>
              <a:srgbClr val="17A4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8"/>
          <p:cNvSpPr txBox="1"/>
          <p:nvPr/>
        </p:nvSpPr>
        <p:spPr>
          <a:xfrm>
            <a:off x="4306400" y="4812200"/>
            <a:ext cx="4381800" cy="292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700">
                <a:solidFill>
                  <a:srgbClr val="013F91"/>
                </a:solidFill>
              </a:rPr>
              <a:t>Department of Commerce | National Oceanic and Atmospheric Administration | NOAA Library | </a:t>
            </a:r>
            <a:endParaRPr sz="700">
              <a:solidFill>
                <a:srgbClr val="013F9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9"/>
          <p:cNvSpPr txBox="1"/>
          <p:nvPr/>
        </p:nvSpPr>
        <p:spPr>
          <a:xfrm>
            <a:off x="1239000" y="4412000"/>
            <a:ext cx="3680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25" name="Google Shape;125;p19"/>
          <p:cNvSpPr/>
          <p:nvPr/>
        </p:nvSpPr>
        <p:spPr>
          <a:xfrm>
            <a:off x="125" y="475"/>
            <a:ext cx="531900" cy="5143500"/>
          </a:xfrm>
          <a:prstGeom prst="rtTriangle">
            <a:avLst/>
          </a:prstGeom>
          <a:solidFill>
            <a:srgbClr val="000E56"/>
          </a:solidFill>
          <a:ln cap="flat" cmpd="sng" w="9525">
            <a:solidFill>
              <a:srgbClr val="013F9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6" name="Google Shape;126;p19"/>
          <p:cNvPicPr preferRelativeResize="0"/>
          <p:nvPr/>
        </p:nvPicPr>
        <p:blipFill>
          <a:blip r:embed="rId3">
            <a:alphaModFix/>
          </a:blip>
          <a:stretch>
            <a:fillRect/>
          </a:stretch>
        </p:blipFill>
        <p:spPr>
          <a:xfrm>
            <a:off x="8466600" y="4602825"/>
            <a:ext cx="524701" cy="524701"/>
          </a:xfrm>
          <a:prstGeom prst="rect">
            <a:avLst/>
          </a:prstGeom>
          <a:noFill/>
          <a:ln>
            <a:noFill/>
          </a:ln>
        </p:spPr>
      </p:pic>
      <p:sp>
        <p:nvSpPr>
          <p:cNvPr id="127" name="Google Shape;127;p19"/>
          <p:cNvSpPr txBox="1"/>
          <p:nvPr>
            <p:ph type="title"/>
          </p:nvPr>
        </p:nvSpPr>
        <p:spPr>
          <a:xfrm>
            <a:off x="914097" y="205375"/>
            <a:ext cx="79182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solidFill>
                  <a:srgbClr val="000E56"/>
                </a:solidFill>
                <a:latin typeface="Open Sans Medium"/>
                <a:ea typeface="Open Sans Medium"/>
                <a:cs typeface="Open Sans Medium"/>
                <a:sym typeface="Open Sans Medium"/>
              </a:rPr>
              <a:t>NAO 205-18: Major Policy Elements re: Data cont’d</a:t>
            </a:r>
            <a:endParaRPr>
              <a:solidFill>
                <a:srgbClr val="000E56"/>
              </a:solidFill>
              <a:latin typeface="Open Sans Medium"/>
              <a:ea typeface="Open Sans Medium"/>
              <a:cs typeface="Open Sans Medium"/>
              <a:sym typeface="Open Sans Medium"/>
            </a:endParaRPr>
          </a:p>
        </p:txBody>
      </p:sp>
      <p:sp>
        <p:nvSpPr>
          <p:cNvPr id="128" name="Google Shape;128;p19"/>
          <p:cNvSpPr/>
          <p:nvPr/>
        </p:nvSpPr>
        <p:spPr>
          <a:xfrm>
            <a:off x="48923" y="255275"/>
            <a:ext cx="512400" cy="4675200"/>
          </a:xfrm>
          <a:prstGeom prst="rtTriangle">
            <a:avLst/>
          </a:prstGeom>
          <a:solidFill>
            <a:srgbClr val="013F91"/>
          </a:solidFill>
          <a:ln cap="flat" cmpd="sng" w="9525">
            <a:solidFill>
              <a:srgbClr val="013F9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9"/>
          <p:cNvSpPr txBox="1"/>
          <p:nvPr>
            <p:ph idx="1" type="body"/>
          </p:nvPr>
        </p:nvSpPr>
        <p:spPr>
          <a:xfrm>
            <a:off x="914100" y="1152475"/>
            <a:ext cx="7600500" cy="3416400"/>
          </a:xfrm>
          <a:prstGeom prst="rect">
            <a:avLst/>
          </a:prstGeom>
        </p:spPr>
        <p:txBody>
          <a:bodyPr anchorCtr="0" anchor="t" bIns="91425" lIns="91425" spcFirstLastPara="1" rIns="91425" wrap="square" tIns="91425">
            <a:normAutofit fontScale="70000" lnSpcReduction="10000"/>
          </a:bodyPr>
          <a:lstStyle/>
          <a:p>
            <a:pPr indent="-308610" lvl="0" marL="457200" rtl="0" algn="l">
              <a:spcBef>
                <a:spcPts val="0"/>
              </a:spcBef>
              <a:spcAft>
                <a:spcPts val="0"/>
              </a:spcAft>
              <a:buClr>
                <a:srgbClr val="000E56"/>
              </a:buClr>
              <a:buSzPct val="100000"/>
              <a:buFont typeface="Open Sans"/>
              <a:buChar char="●"/>
            </a:pPr>
            <a:r>
              <a:rPr lang="en">
                <a:solidFill>
                  <a:srgbClr val="000E56"/>
                </a:solidFill>
                <a:latin typeface="Open Sans"/>
                <a:ea typeface="Open Sans"/>
                <a:cs typeface="Open Sans"/>
                <a:sym typeface="Open Sans"/>
              </a:rPr>
              <a:t>§4.03.c. Authors of NOAA-funded scientific data </a:t>
            </a:r>
            <a:r>
              <a:rPr b="1" lang="en">
                <a:solidFill>
                  <a:srgbClr val="0000FF"/>
                </a:solidFill>
                <a:latin typeface="Open Sans"/>
                <a:ea typeface="Open Sans"/>
                <a:cs typeface="Open Sans"/>
                <a:sym typeface="Open Sans"/>
              </a:rPr>
              <a:t>s</a:t>
            </a:r>
            <a:r>
              <a:rPr b="1" lang="en">
                <a:solidFill>
                  <a:srgbClr val="0000FF"/>
                </a:solidFill>
                <a:latin typeface="Open Sans"/>
                <a:ea typeface="Open Sans"/>
                <a:cs typeface="Open Sans"/>
                <a:sym typeface="Open Sans"/>
              </a:rPr>
              <a:t>hall submit their data and metadata to the NOAA Data Repository (NDR)</a:t>
            </a:r>
            <a:r>
              <a:rPr lang="en">
                <a:solidFill>
                  <a:srgbClr val="000E56"/>
                </a:solidFill>
                <a:latin typeface="Open Sans"/>
                <a:ea typeface="Open Sans"/>
                <a:cs typeface="Open Sans"/>
                <a:sym typeface="Open Sans"/>
              </a:rPr>
              <a:t>, the designated public access repository for NOAA data.</a:t>
            </a:r>
            <a:endParaRPr>
              <a:solidFill>
                <a:srgbClr val="000E56"/>
              </a:solidFill>
              <a:latin typeface="Open Sans"/>
              <a:ea typeface="Open Sans"/>
              <a:cs typeface="Open Sans"/>
              <a:sym typeface="Open Sans"/>
            </a:endParaRPr>
          </a:p>
          <a:p>
            <a:pPr indent="-308610" lvl="0" marL="457200" rtl="0" algn="l">
              <a:spcBef>
                <a:spcPts val="1000"/>
              </a:spcBef>
              <a:spcAft>
                <a:spcPts val="0"/>
              </a:spcAft>
              <a:buClr>
                <a:srgbClr val="000E56"/>
              </a:buClr>
              <a:buSzPct val="100000"/>
              <a:buFont typeface="Open Sans"/>
              <a:buChar char="●"/>
            </a:pPr>
            <a:r>
              <a:rPr lang="en">
                <a:solidFill>
                  <a:srgbClr val="000E56"/>
                </a:solidFill>
                <a:latin typeface="Open Sans"/>
                <a:ea typeface="Open Sans"/>
                <a:cs typeface="Open Sans"/>
                <a:sym typeface="Open Sans"/>
              </a:rPr>
              <a:t>§4.03.d. </a:t>
            </a:r>
            <a:r>
              <a:rPr lang="en">
                <a:solidFill>
                  <a:srgbClr val="000E56"/>
                </a:solidFill>
                <a:latin typeface="Open Sans"/>
                <a:ea typeface="Open Sans"/>
                <a:cs typeface="Open Sans"/>
                <a:sym typeface="Open Sans"/>
              </a:rPr>
              <a:t>All NOAA scientific data, regardless of data access repository, shall be </a:t>
            </a:r>
            <a:r>
              <a:rPr b="1" lang="en">
                <a:solidFill>
                  <a:srgbClr val="0000FF"/>
                </a:solidFill>
                <a:latin typeface="Open Sans"/>
                <a:ea typeface="Open Sans"/>
                <a:cs typeface="Open Sans"/>
                <a:sym typeface="Open Sans"/>
              </a:rPr>
              <a:t>publicly discoverable via the NOAA Data Catalog (NDC)</a:t>
            </a:r>
            <a:r>
              <a:rPr lang="en">
                <a:solidFill>
                  <a:srgbClr val="000E56"/>
                </a:solidFill>
                <a:latin typeface="Open Sans"/>
                <a:ea typeface="Open Sans"/>
                <a:cs typeface="Open Sans"/>
                <a:sym typeface="Open Sans"/>
              </a:rPr>
              <a:t> [...] fulfilling the Evidence Act requirement to pass agency metadata to data.gov</a:t>
            </a:r>
            <a:endParaRPr>
              <a:solidFill>
                <a:srgbClr val="000E56"/>
              </a:solidFill>
              <a:latin typeface="Open Sans"/>
              <a:ea typeface="Open Sans"/>
              <a:cs typeface="Open Sans"/>
              <a:sym typeface="Open Sans"/>
            </a:endParaRPr>
          </a:p>
          <a:p>
            <a:pPr indent="-308610" lvl="0" marL="457200" rtl="0" algn="l">
              <a:spcBef>
                <a:spcPts val="1000"/>
              </a:spcBef>
              <a:spcAft>
                <a:spcPts val="0"/>
              </a:spcAft>
              <a:buClr>
                <a:srgbClr val="000E56"/>
              </a:buClr>
              <a:buSzPct val="100000"/>
              <a:buFont typeface="Open Sans"/>
              <a:buChar char="●"/>
            </a:pPr>
            <a:r>
              <a:rPr lang="en">
                <a:solidFill>
                  <a:srgbClr val="000E56"/>
                </a:solidFill>
                <a:latin typeface="Open Sans"/>
                <a:ea typeface="Open Sans"/>
                <a:cs typeface="Open Sans"/>
                <a:sym typeface="Open Sans"/>
              </a:rPr>
              <a:t>§4.03.f. NOAA </a:t>
            </a:r>
            <a:r>
              <a:rPr b="1" lang="en">
                <a:solidFill>
                  <a:srgbClr val="0000FF"/>
                </a:solidFill>
                <a:latin typeface="Open Sans"/>
                <a:ea typeface="Open Sans"/>
                <a:cs typeface="Open Sans"/>
                <a:sym typeface="Open Sans"/>
              </a:rPr>
              <a:t>shall develop and maintain the NDR and NDC</a:t>
            </a:r>
            <a:r>
              <a:rPr lang="en">
                <a:solidFill>
                  <a:srgbClr val="000E56"/>
                </a:solidFill>
                <a:latin typeface="Open Sans"/>
                <a:ea typeface="Open Sans"/>
                <a:cs typeface="Open Sans"/>
                <a:sym typeface="Open Sans"/>
              </a:rPr>
              <a:t>, which shall, to the extent practicable, provide online access to NOAA data and metadata in formats that allow for machine-readability and, when available, human-readability.</a:t>
            </a:r>
            <a:endParaRPr>
              <a:solidFill>
                <a:srgbClr val="000E56"/>
              </a:solidFill>
              <a:latin typeface="Open Sans"/>
              <a:ea typeface="Open Sans"/>
              <a:cs typeface="Open Sans"/>
              <a:sym typeface="Open Sans"/>
            </a:endParaRPr>
          </a:p>
          <a:p>
            <a:pPr indent="-290830" lvl="1" marL="914400" rtl="0" algn="l">
              <a:spcBef>
                <a:spcPts val="0"/>
              </a:spcBef>
              <a:spcAft>
                <a:spcPts val="0"/>
              </a:spcAft>
              <a:buClr>
                <a:srgbClr val="000E56"/>
              </a:buClr>
              <a:buSzPct val="100000"/>
              <a:buFont typeface="Open Sans"/>
              <a:buChar char="○"/>
            </a:pPr>
            <a:r>
              <a:rPr lang="en">
                <a:solidFill>
                  <a:srgbClr val="000E56"/>
                </a:solidFill>
                <a:latin typeface="Open Sans"/>
                <a:ea typeface="Open Sans"/>
                <a:cs typeface="Open Sans"/>
                <a:sym typeface="Open Sans"/>
              </a:rPr>
              <a:t>§4.03.f.iv. NOAA-funded data submitted to the NDR shall be made publicly available under either a Universal Public Domain Dedication License (CC0) or a a Creative Commons Attribution License (CC BY). 			</a:t>
            </a:r>
            <a:endParaRPr>
              <a:solidFill>
                <a:srgbClr val="000E56"/>
              </a:solidFill>
              <a:latin typeface="Open Sans"/>
              <a:ea typeface="Open Sans"/>
              <a:cs typeface="Open Sans"/>
              <a:sym typeface="Open Sans"/>
            </a:endParaRPr>
          </a:p>
          <a:p>
            <a:pPr indent="-290830" lvl="2" marL="1371600" rtl="0" algn="l">
              <a:spcBef>
                <a:spcPts val="0"/>
              </a:spcBef>
              <a:spcAft>
                <a:spcPts val="0"/>
              </a:spcAft>
              <a:buClr>
                <a:srgbClr val="000E56"/>
              </a:buClr>
              <a:buSzPct val="100000"/>
              <a:buFont typeface="Open Sans"/>
              <a:buChar char="■"/>
            </a:pPr>
            <a:r>
              <a:rPr lang="en">
                <a:solidFill>
                  <a:srgbClr val="000E56"/>
                </a:solidFill>
                <a:latin typeface="Open Sans"/>
                <a:ea typeface="Open Sans"/>
                <a:cs typeface="Open Sans"/>
                <a:sym typeface="Open Sans"/>
              </a:rPr>
              <a:t>Non-NOAA data, including partner data and commercial data, submitted to the NDR shall be made publicly available under the license indicated in the submission agreement.</a:t>
            </a:r>
            <a:endParaRPr>
              <a:solidFill>
                <a:srgbClr val="000E56"/>
              </a:solidFill>
              <a:latin typeface="Open Sans"/>
              <a:ea typeface="Open Sans"/>
              <a:cs typeface="Open Sans"/>
              <a:sym typeface="Open Sans"/>
            </a:endParaRPr>
          </a:p>
          <a:p>
            <a:pPr indent="-308610" lvl="0" marL="457200" rtl="0" algn="l">
              <a:spcBef>
                <a:spcPts val="1000"/>
              </a:spcBef>
              <a:spcAft>
                <a:spcPts val="0"/>
              </a:spcAft>
              <a:buClr>
                <a:srgbClr val="000E56"/>
              </a:buClr>
              <a:buSzPct val="100000"/>
              <a:buFont typeface="Open Sans"/>
              <a:buChar char="●"/>
            </a:pPr>
            <a:r>
              <a:rPr lang="en">
                <a:solidFill>
                  <a:srgbClr val="000E56"/>
                </a:solidFill>
                <a:latin typeface="Open Sans"/>
                <a:ea typeface="Open Sans"/>
                <a:cs typeface="Open Sans"/>
                <a:sym typeface="Open Sans"/>
              </a:rPr>
              <a:t>§4.03.h. Authors (both intramural and extramural) of </a:t>
            </a:r>
            <a:r>
              <a:rPr b="1" lang="en">
                <a:solidFill>
                  <a:srgbClr val="0000FF"/>
                </a:solidFill>
                <a:latin typeface="Open Sans"/>
                <a:ea typeface="Open Sans"/>
                <a:cs typeface="Open Sans"/>
                <a:sym typeface="Open Sans"/>
              </a:rPr>
              <a:t>restricted scientific data shall obtain approval from the NOAA funding program</a:t>
            </a:r>
            <a:r>
              <a:rPr lang="en">
                <a:solidFill>
                  <a:srgbClr val="000E56"/>
                </a:solidFill>
                <a:latin typeface="Open Sans"/>
                <a:ea typeface="Open Sans"/>
                <a:cs typeface="Open Sans"/>
                <a:sym typeface="Open Sans"/>
              </a:rPr>
              <a:t> to limit public access. </a:t>
            </a:r>
            <a:endParaRPr>
              <a:solidFill>
                <a:srgbClr val="000E56"/>
              </a:solidFill>
              <a:latin typeface="Open Sans"/>
              <a:ea typeface="Open Sans"/>
              <a:cs typeface="Open Sans"/>
              <a:sym typeface="Open Sans"/>
            </a:endParaRPr>
          </a:p>
          <a:p>
            <a:pPr indent="-290830" lvl="1" marL="914400" rtl="0" algn="l">
              <a:spcBef>
                <a:spcPts val="0"/>
              </a:spcBef>
              <a:spcAft>
                <a:spcPts val="1000"/>
              </a:spcAft>
              <a:buClr>
                <a:srgbClr val="000E56"/>
              </a:buClr>
              <a:buSzPct val="100000"/>
              <a:buFont typeface="Open Sans"/>
              <a:buChar char="○"/>
            </a:pPr>
            <a:r>
              <a:rPr lang="en">
                <a:solidFill>
                  <a:srgbClr val="000E56"/>
                </a:solidFill>
                <a:latin typeface="Open Sans"/>
                <a:ea typeface="Open Sans"/>
                <a:cs typeface="Open Sans"/>
                <a:sym typeface="Open Sans"/>
              </a:rPr>
              <a:t>Decisions to withhold access to scientific data shall be explicit and documented.</a:t>
            </a:r>
            <a:endParaRPr>
              <a:solidFill>
                <a:srgbClr val="000E56"/>
              </a:solidFill>
              <a:latin typeface="Open Sans"/>
              <a:ea typeface="Open Sans"/>
              <a:cs typeface="Open Sans"/>
              <a:sym typeface="Open Sans"/>
            </a:endParaRPr>
          </a:p>
        </p:txBody>
      </p:sp>
      <p:sp>
        <p:nvSpPr>
          <p:cNvPr id="130" name="Google Shape;130;p19"/>
          <p:cNvSpPr/>
          <p:nvPr/>
        </p:nvSpPr>
        <p:spPr>
          <a:xfrm>
            <a:off x="102598" y="494325"/>
            <a:ext cx="473400" cy="4173300"/>
          </a:xfrm>
          <a:prstGeom prst="rtTriangle">
            <a:avLst/>
          </a:prstGeom>
          <a:solidFill>
            <a:srgbClr val="17A4F7"/>
          </a:solidFill>
          <a:ln cap="flat" cmpd="sng" w="9525">
            <a:solidFill>
              <a:srgbClr val="17A4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9"/>
          <p:cNvSpPr txBox="1"/>
          <p:nvPr/>
        </p:nvSpPr>
        <p:spPr>
          <a:xfrm>
            <a:off x="4306400" y="4812200"/>
            <a:ext cx="4381800" cy="292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700">
                <a:solidFill>
                  <a:srgbClr val="013F91"/>
                </a:solidFill>
              </a:rPr>
              <a:t>Department of Commerce | National Oceanic and Atmospheric Administration | NOAA Library | </a:t>
            </a:r>
            <a:endParaRPr sz="700">
              <a:solidFill>
                <a:srgbClr val="013F9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0"/>
          <p:cNvSpPr txBox="1"/>
          <p:nvPr/>
        </p:nvSpPr>
        <p:spPr>
          <a:xfrm>
            <a:off x="1239000" y="4412000"/>
            <a:ext cx="3680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37" name="Google Shape;137;p20"/>
          <p:cNvSpPr/>
          <p:nvPr/>
        </p:nvSpPr>
        <p:spPr>
          <a:xfrm>
            <a:off x="125" y="475"/>
            <a:ext cx="531900" cy="5143500"/>
          </a:xfrm>
          <a:prstGeom prst="rtTriangle">
            <a:avLst/>
          </a:prstGeom>
          <a:solidFill>
            <a:srgbClr val="000E56"/>
          </a:solidFill>
          <a:ln cap="flat" cmpd="sng" w="9525">
            <a:solidFill>
              <a:srgbClr val="013F9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8" name="Google Shape;138;p20"/>
          <p:cNvPicPr preferRelativeResize="0"/>
          <p:nvPr/>
        </p:nvPicPr>
        <p:blipFill>
          <a:blip r:embed="rId3">
            <a:alphaModFix/>
          </a:blip>
          <a:stretch>
            <a:fillRect/>
          </a:stretch>
        </p:blipFill>
        <p:spPr>
          <a:xfrm>
            <a:off x="8466600" y="4602825"/>
            <a:ext cx="524701" cy="524701"/>
          </a:xfrm>
          <a:prstGeom prst="rect">
            <a:avLst/>
          </a:prstGeom>
          <a:noFill/>
          <a:ln>
            <a:noFill/>
          </a:ln>
        </p:spPr>
      </p:pic>
      <p:sp>
        <p:nvSpPr>
          <p:cNvPr id="139" name="Google Shape;139;p20"/>
          <p:cNvSpPr txBox="1"/>
          <p:nvPr>
            <p:ph type="title"/>
          </p:nvPr>
        </p:nvSpPr>
        <p:spPr>
          <a:xfrm>
            <a:off x="914097" y="205375"/>
            <a:ext cx="79182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solidFill>
                  <a:srgbClr val="000E56"/>
                </a:solidFill>
                <a:latin typeface="Open Sans Medium"/>
                <a:ea typeface="Open Sans Medium"/>
                <a:cs typeface="Open Sans Medium"/>
                <a:sym typeface="Open Sans Medium"/>
              </a:rPr>
              <a:t>NAO 205-18: Major Policy Elements re: Data cont’d</a:t>
            </a:r>
            <a:endParaRPr>
              <a:solidFill>
                <a:srgbClr val="000E56"/>
              </a:solidFill>
              <a:latin typeface="Open Sans Medium"/>
              <a:ea typeface="Open Sans Medium"/>
              <a:cs typeface="Open Sans Medium"/>
              <a:sym typeface="Open Sans Medium"/>
            </a:endParaRPr>
          </a:p>
        </p:txBody>
      </p:sp>
      <p:sp>
        <p:nvSpPr>
          <p:cNvPr id="140" name="Google Shape;140;p20"/>
          <p:cNvSpPr/>
          <p:nvPr/>
        </p:nvSpPr>
        <p:spPr>
          <a:xfrm>
            <a:off x="48923" y="255275"/>
            <a:ext cx="512400" cy="4675200"/>
          </a:xfrm>
          <a:prstGeom prst="rtTriangle">
            <a:avLst/>
          </a:prstGeom>
          <a:solidFill>
            <a:srgbClr val="013F91"/>
          </a:solidFill>
          <a:ln cap="flat" cmpd="sng" w="9525">
            <a:solidFill>
              <a:srgbClr val="013F9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20"/>
          <p:cNvSpPr txBox="1"/>
          <p:nvPr>
            <p:ph idx="1" type="body"/>
          </p:nvPr>
        </p:nvSpPr>
        <p:spPr>
          <a:xfrm>
            <a:off x="914100" y="1152475"/>
            <a:ext cx="76005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rgbClr val="000E56"/>
              </a:buClr>
              <a:buSzPts val="1800"/>
              <a:buFont typeface="Open Sans"/>
              <a:buChar char="●"/>
            </a:pPr>
            <a:r>
              <a:rPr lang="en">
                <a:solidFill>
                  <a:srgbClr val="000E56"/>
                </a:solidFill>
                <a:latin typeface="Open Sans"/>
                <a:ea typeface="Open Sans"/>
                <a:cs typeface="Open Sans"/>
                <a:sym typeface="Open Sans"/>
              </a:rPr>
              <a:t>§5.04.b.1. NOAA funding programs shall[...] provide specific guidance to awardees on making publications and data publicly accessible using PIDs: </a:t>
            </a:r>
            <a:r>
              <a:rPr lang="en">
                <a:solidFill>
                  <a:srgbClr val="000E56"/>
                </a:solidFill>
                <a:latin typeface="Open Sans"/>
                <a:ea typeface="Open Sans"/>
                <a:cs typeface="Open Sans"/>
                <a:sym typeface="Open Sans"/>
              </a:rPr>
              <a:t>including, in consultation with the NDR, guidelines on the specific online digital repository or repositories that align with the National Science and Technology Council document entitled</a:t>
            </a:r>
            <a:r>
              <a:rPr lang="en">
                <a:solidFill>
                  <a:srgbClr val="000E56"/>
                </a:solidFill>
                <a:latin typeface="Open Sans"/>
                <a:ea typeface="Open Sans"/>
                <a:cs typeface="Open Sans"/>
                <a:sym typeface="Open Sans"/>
              </a:rPr>
              <a:t> “</a:t>
            </a:r>
            <a:r>
              <a:rPr lang="en" u="sng">
                <a:solidFill>
                  <a:schemeClr val="hlink"/>
                </a:solidFill>
                <a:latin typeface="Open Sans"/>
                <a:ea typeface="Open Sans"/>
                <a:cs typeface="Open Sans"/>
                <a:sym typeface="Open Sans"/>
                <a:hlinkClick r:id="rId4"/>
              </a:rPr>
              <a:t>Desirable Characteristics of Data Repositories for Federally Funded Research</a:t>
            </a:r>
            <a:r>
              <a:rPr lang="en">
                <a:solidFill>
                  <a:srgbClr val="000E56"/>
                </a:solidFill>
                <a:latin typeface="Open Sans"/>
                <a:ea typeface="Open Sans"/>
                <a:cs typeface="Open Sans"/>
                <a:sym typeface="Open Sans"/>
              </a:rPr>
              <a:t>” </a:t>
            </a:r>
            <a:endParaRPr>
              <a:solidFill>
                <a:srgbClr val="000E56"/>
              </a:solidFill>
              <a:latin typeface="Open Sans"/>
              <a:ea typeface="Open Sans"/>
              <a:cs typeface="Open Sans"/>
              <a:sym typeface="Open Sans"/>
            </a:endParaRPr>
          </a:p>
          <a:p>
            <a:pPr indent="-317500" lvl="1" marL="914400" rtl="0" algn="l">
              <a:spcBef>
                <a:spcPts val="0"/>
              </a:spcBef>
              <a:spcAft>
                <a:spcPts val="1000"/>
              </a:spcAft>
              <a:buClr>
                <a:srgbClr val="000E56"/>
              </a:buClr>
              <a:buSzPts val="1400"/>
              <a:buFont typeface="Open Sans"/>
              <a:buChar char="○"/>
            </a:pPr>
            <a:r>
              <a:rPr lang="en">
                <a:solidFill>
                  <a:srgbClr val="000E56"/>
                </a:solidFill>
                <a:latin typeface="Open Sans"/>
                <a:ea typeface="Open Sans"/>
                <a:cs typeface="Open Sans"/>
                <a:sym typeface="Open Sans"/>
              </a:rPr>
              <a:t>DGC is currently working on developing an authorized list of Approved Data Repositories (ADR)</a:t>
            </a:r>
            <a:endParaRPr>
              <a:solidFill>
                <a:srgbClr val="000E56"/>
              </a:solidFill>
              <a:latin typeface="Open Sans"/>
              <a:ea typeface="Open Sans"/>
              <a:cs typeface="Open Sans"/>
              <a:sym typeface="Open Sans"/>
            </a:endParaRPr>
          </a:p>
        </p:txBody>
      </p:sp>
      <p:sp>
        <p:nvSpPr>
          <p:cNvPr id="142" name="Google Shape;142;p20"/>
          <p:cNvSpPr/>
          <p:nvPr/>
        </p:nvSpPr>
        <p:spPr>
          <a:xfrm>
            <a:off x="102598" y="494325"/>
            <a:ext cx="473400" cy="4173300"/>
          </a:xfrm>
          <a:prstGeom prst="rtTriangle">
            <a:avLst/>
          </a:prstGeom>
          <a:solidFill>
            <a:srgbClr val="17A4F7"/>
          </a:solidFill>
          <a:ln cap="flat" cmpd="sng" w="9525">
            <a:solidFill>
              <a:srgbClr val="17A4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20"/>
          <p:cNvSpPr txBox="1"/>
          <p:nvPr/>
        </p:nvSpPr>
        <p:spPr>
          <a:xfrm>
            <a:off x="4306400" y="4812200"/>
            <a:ext cx="4381800" cy="292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700">
                <a:solidFill>
                  <a:srgbClr val="013F91"/>
                </a:solidFill>
              </a:rPr>
              <a:t>Department of Commerce | National Oceanic and Atmospheric Administration | NOAA Library | </a:t>
            </a:r>
            <a:endParaRPr sz="700">
              <a:solidFill>
                <a:srgbClr val="013F9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1"/>
          <p:cNvSpPr txBox="1"/>
          <p:nvPr/>
        </p:nvSpPr>
        <p:spPr>
          <a:xfrm>
            <a:off x="1239000" y="4412000"/>
            <a:ext cx="3680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49" name="Google Shape;149;p21"/>
          <p:cNvSpPr/>
          <p:nvPr/>
        </p:nvSpPr>
        <p:spPr>
          <a:xfrm>
            <a:off x="125" y="475"/>
            <a:ext cx="531900" cy="5143500"/>
          </a:xfrm>
          <a:prstGeom prst="rtTriangle">
            <a:avLst/>
          </a:prstGeom>
          <a:solidFill>
            <a:srgbClr val="000E56"/>
          </a:solidFill>
          <a:ln cap="flat" cmpd="sng" w="9525">
            <a:solidFill>
              <a:srgbClr val="013F9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0" name="Google Shape;150;p21"/>
          <p:cNvPicPr preferRelativeResize="0"/>
          <p:nvPr/>
        </p:nvPicPr>
        <p:blipFill>
          <a:blip r:embed="rId3">
            <a:alphaModFix/>
          </a:blip>
          <a:stretch>
            <a:fillRect/>
          </a:stretch>
        </p:blipFill>
        <p:spPr>
          <a:xfrm>
            <a:off x="8466600" y="4602825"/>
            <a:ext cx="524701" cy="524701"/>
          </a:xfrm>
          <a:prstGeom prst="rect">
            <a:avLst/>
          </a:prstGeom>
          <a:noFill/>
          <a:ln>
            <a:noFill/>
          </a:ln>
        </p:spPr>
      </p:pic>
      <p:sp>
        <p:nvSpPr>
          <p:cNvPr id="151" name="Google Shape;151;p21"/>
          <p:cNvSpPr txBox="1"/>
          <p:nvPr>
            <p:ph type="title"/>
          </p:nvPr>
        </p:nvSpPr>
        <p:spPr>
          <a:xfrm>
            <a:off x="914097" y="205375"/>
            <a:ext cx="79182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solidFill>
                  <a:srgbClr val="000E56"/>
                </a:solidFill>
                <a:latin typeface="Open Sans Medium"/>
                <a:ea typeface="Open Sans Medium"/>
                <a:cs typeface="Open Sans Medium"/>
                <a:sym typeface="Open Sans Medium"/>
              </a:rPr>
              <a:t>NAO 205-18: Major Policy Elements re: PIDS</a:t>
            </a:r>
            <a:endParaRPr>
              <a:solidFill>
                <a:srgbClr val="000E56"/>
              </a:solidFill>
              <a:latin typeface="Open Sans Medium"/>
              <a:ea typeface="Open Sans Medium"/>
              <a:cs typeface="Open Sans Medium"/>
              <a:sym typeface="Open Sans Medium"/>
            </a:endParaRPr>
          </a:p>
        </p:txBody>
      </p:sp>
      <p:sp>
        <p:nvSpPr>
          <p:cNvPr id="152" name="Google Shape;152;p21"/>
          <p:cNvSpPr/>
          <p:nvPr/>
        </p:nvSpPr>
        <p:spPr>
          <a:xfrm>
            <a:off x="48923" y="255275"/>
            <a:ext cx="512400" cy="4675200"/>
          </a:xfrm>
          <a:prstGeom prst="rtTriangle">
            <a:avLst/>
          </a:prstGeom>
          <a:solidFill>
            <a:srgbClr val="013F91"/>
          </a:solidFill>
          <a:ln cap="flat" cmpd="sng" w="9525">
            <a:solidFill>
              <a:srgbClr val="013F9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21"/>
          <p:cNvSpPr txBox="1"/>
          <p:nvPr>
            <p:ph idx="1" type="body"/>
          </p:nvPr>
        </p:nvSpPr>
        <p:spPr>
          <a:xfrm>
            <a:off x="914100" y="939225"/>
            <a:ext cx="7600500" cy="3629700"/>
          </a:xfrm>
          <a:prstGeom prst="rect">
            <a:avLst/>
          </a:prstGeom>
        </p:spPr>
        <p:txBody>
          <a:bodyPr anchorCtr="0" anchor="t" bIns="91425" lIns="91425" spcFirstLastPara="1" rIns="91425" wrap="square" tIns="91425">
            <a:normAutofit fontScale="77500" lnSpcReduction="20000"/>
          </a:bodyPr>
          <a:lstStyle/>
          <a:p>
            <a:pPr indent="-317182" lvl="0" marL="457200" rtl="0" algn="l">
              <a:spcBef>
                <a:spcPts val="0"/>
              </a:spcBef>
              <a:spcAft>
                <a:spcPts val="0"/>
              </a:spcAft>
              <a:buClr>
                <a:srgbClr val="000E56"/>
              </a:buClr>
              <a:buSzPct val="100000"/>
              <a:buFont typeface="Open Sans"/>
              <a:buChar char="●"/>
            </a:pPr>
            <a:r>
              <a:rPr lang="en">
                <a:solidFill>
                  <a:srgbClr val="000E56"/>
                </a:solidFill>
                <a:latin typeface="Open Sans"/>
                <a:ea typeface="Open Sans"/>
                <a:cs typeface="Open Sans"/>
                <a:sym typeface="Open Sans"/>
              </a:rPr>
              <a:t>§4.04.a</a:t>
            </a:r>
            <a:r>
              <a:rPr lang="en">
                <a:solidFill>
                  <a:srgbClr val="000E56"/>
                </a:solidFill>
                <a:latin typeface="Open Sans"/>
                <a:ea typeface="Open Sans"/>
                <a:cs typeface="Open Sans"/>
                <a:sym typeface="Open Sans"/>
              </a:rPr>
              <a:t>NOAA shall transparently communicate to the public critical information about research outputs, including: all author and co-author names and affiliations; sources of funding; [...] a </a:t>
            </a:r>
            <a:r>
              <a:rPr b="1" lang="en">
                <a:solidFill>
                  <a:srgbClr val="0000FF"/>
                </a:solidFill>
                <a:latin typeface="Open Sans"/>
                <a:ea typeface="Open Sans"/>
                <a:cs typeface="Open Sans"/>
                <a:sym typeface="Open Sans"/>
              </a:rPr>
              <a:t>unique digital persistent identifier (PID)</a:t>
            </a:r>
            <a:r>
              <a:rPr lang="en">
                <a:solidFill>
                  <a:srgbClr val="000E56"/>
                </a:solidFill>
                <a:latin typeface="Open Sans"/>
                <a:ea typeface="Open Sans"/>
                <a:cs typeface="Open Sans"/>
                <a:sym typeface="Open Sans"/>
              </a:rPr>
              <a:t> for each publication, associated/underlying data, and any software/code.</a:t>
            </a:r>
            <a:endParaRPr>
              <a:solidFill>
                <a:srgbClr val="000E56"/>
              </a:solidFill>
              <a:latin typeface="Open Sans"/>
              <a:ea typeface="Open Sans"/>
              <a:cs typeface="Open Sans"/>
              <a:sym typeface="Open Sans"/>
            </a:endParaRPr>
          </a:p>
          <a:p>
            <a:pPr indent="-317182" lvl="0" marL="457200" rtl="0" algn="l">
              <a:spcBef>
                <a:spcPts val="1000"/>
              </a:spcBef>
              <a:spcAft>
                <a:spcPts val="0"/>
              </a:spcAft>
              <a:buClr>
                <a:srgbClr val="000E56"/>
              </a:buClr>
              <a:buSzPct val="100000"/>
              <a:buFont typeface="Open Sans"/>
              <a:buChar char="●"/>
            </a:pPr>
            <a:r>
              <a:rPr lang="en">
                <a:solidFill>
                  <a:srgbClr val="000E56"/>
                </a:solidFill>
                <a:latin typeface="Open Sans"/>
                <a:ea typeface="Open Sans"/>
                <a:cs typeface="Open Sans"/>
                <a:sym typeface="Open Sans"/>
              </a:rPr>
              <a:t>§4.05.b. Individual authors of NOAA publications and data are </a:t>
            </a:r>
            <a:r>
              <a:rPr b="1" lang="en">
                <a:solidFill>
                  <a:srgbClr val="0000FF"/>
                </a:solidFill>
                <a:latin typeface="Open Sans"/>
                <a:ea typeface="Open Sans"/>
                <a:cs typeface="Open Sans"/>
                <a:sym typeface="Open Sans"/>
              </a:rPr>
              <a:t>required to obtain a personal PID</a:t>
            </a:r>
            <a:r>
              <a:rPr lang="en">
                <a:solidFill>
                  <a:srgbClr val="000E56"/>
                </a:solidFill>
                <a:latin typeface="Open Sans"/>
                <a:ea typeface="Open Sans"/>
                <a:cs typeface="Open Sans"/>
                <a:sym typeface="Open Sans"/>
              </a:rPr>
              <a:t> that meets the common/core standards, such as an Open Researcher and Contributor ID (ORCID).</a:t>
            </a:r>
            <a:endParaRPr>
              <a:solidFill>
                <a:srgbClr val="000E56"/>
              </a:solidFill>
              <a:latin typeface="Open Sans"/>
              <a:ea typeface="Open Sans"/>
              <a:cs typeface="Open Sans"/>
              <a:sym typeface="Open Sans"/>
            </a:endParaRPr>
          </a:p>
          <a:p>
            <a:pPr indent="-297497" lvl="1" marL="914400" rtl="0" algn="l">
              <a:spcBef>
                <a:spcPts val="0"/>
              </a:spcBef>
              <a:spcAft>
                <a:spcPts val="0"/>
              </a:spcAft>
              <a:buClr>
                <a:srgbClr val="000E56"/>
              </a:buClr>
              <a:buSzPct val="100000"/>
              <a:buFont typeface="Open Sans"/>
              <a:buChar char="○"/>
            </a:pPr>
            <a:r>
              <a:rPr lang="en">
                <a:solidFill>
                  <a:srgbClr val="000E56"/>
                </a:solidFill>
                <a:latin typeface="Open Sans"/>
                <a:ea typeface="Open Sans"/>
                <a:cs typeface="Open Sans"/>
                <a:sym typeface="Open Sans"/>
              </a:rPr>
              <a:t>§4.05.b.i. Authors will be expected to </a:t>
            </a:r>
            <a:r>
              <a:rPr b="1" lang="en">
                <a:solidFill>
                  <a:srgbClr val="0000FF"/>
                </a:solidFill>
                <a:latin typeface="Open Sans"/>
                <a:ea typeface="Open Sans"/>
                <a:cs typeface="Open Sans"/>
                <a:sym typeface="Open Sans"/>
              </a:rPr>
              <a:t>provide their PID</a:t>
            </a:r>
            <a:r>
              <a:rPr lang="en">
                <a:solidFill>
                  <a:srgbClr val="000E56"/>
                </a:solidFill>
                <a:latin typeface="Open Sans"/>
                <a:ea typeface="Open Sans"/>
                <a:cs typeface="Open Sans"/>
                <a:sym typeface="Open Sans"/>
              </a:rPr>
              <a:t> and the associated metadata </a:t>
            </a:r>
            <a:r>
              <a:rPr b="1" lang="en">
                <a:solidFill>
                  <a:srgbClr val="0000FF"/>
                </a:solidFill>
                <a:latin typeface="Open Sans"/>
                <a:ea typeface="Open Sans"/>
                <a:cs typeface="Open Sans"/>
                <a:sym typeface="Open Sans"/>
              </a:rPr>
              <a:t>when using NOAA systems and submitting research outputs</a:t>
            </a:r>
            <a:r>
              <a:rPr lang="en">
                <a:solidFill>
                  <a:srgbClr val="000E56"/>
                </a:solidFill>
                <a:latin typeface="Open Sans"/>
                <a:ea typeface="Open Sans"/>
                <a:cs typeface="Open Sans"/>
                <a:sym typeface="Open Sans"/>
              </a:rPr>
              <a:t> to the NIR and NDR in compliance with this policy.</a:t>
            </a:r>
            <a:endParaRPr>
              <a:solidFill>
                <a:srgbClr val="000E56"/>
              </a:solidFill>
              <a:latin typeface="Open Sans"/>
              <a:ea typeface="Open Sans"/>
              <a:cs typeface="Open Sans"/>
              <a:sym typeface="Open Sans"/>
            </a:endParaRPr>
          </a:p>
          <a:p>
            <a:pPr indent="-297497" lvl="1" marL="914400" rtl="0" algn="l">
              <a:spcBef>
                <a:spcPts val="0"/>
              </a:spcBef>
              <a:spcAft>
                <a:spcPts val="0"/>
              </a:spcAft>
              <a:buClr>
                <a:srgbClr val="000E56"/>
              </a:buClr>
              <a:buSzPct val="100000"/>
              <a:buFont typeface="Open Sans"/>
              <a:buChar char="○"/>
            </a:pPr>
            <a:r>
              <a:rPr lang="en">
                <a:solidFill>
                  <a:srgbClr val="000E56"/>
                </a:solidFill>
                <a:latin typeface="Open Sans"/>
                <a:ea typeface="Open Sans"/>
                <a:cs typeface="Open Sans"/>
                <a:sym typeface="Open Sans"/>
              </a:rPr>
              <a:t>§4.05.b.ii. Organizations listed as an author should be identified by their associated Research Organization Registry identifier (</a:t>
            </a:r>
            <a:r>
              <a:rPr b="1" lang="en">
                <a:solidFill>
                  <a:srgbClr val="0000FF"/>
                </a:solidFill>
                <a:latin typeface="Open Sans"/>
                <a:ea typeface="Open Sans"/>
                <a:cs typeface="Open Sans"/>
                <a:sym typeface="Open Sans"/>
              </a:rPr>
              <a:t>ROR</a:t>
            </a:r>
            <a:r>
              <a:rPr lang="en">
                <a:solidFill>
                  <a:srgbClr val="000E56"/>
                </a:solidFill>
                <a:latin typeface="Open Sans"/>
                <a:ea typeface="Open Sans"/>
                <a:cs typeface="Open Sans"/>
                <a:sym typeface="Open Sans"/>
              </a:rPr>
              <a:t>).</a:t>
            </a:r>
            <a:endParaRPr>
              <a:solidFill>
                <a:srgbClr val="000E56"/>
              </a:solidFill>
              <a:latin typeface="Open Sans"/>
              <a:ea typeface="Open Sans"/>
              <a:cs typeface="Open Sans"/>
              <a:sym typeface="Open Sans"/>
            </a:endParaRPr>
          </a:p>
          <a:p>
            <a:pPr indent="-317182" lvl="0" marL="457200" rtl="0" algn="l">
              <a:spcBef>
                <a:spcPts val="1000"/>
              </a:spcBef>
              <a:spcAft>
                <a:spcPts val="1000"/>
              </a:spcAft>
              <a:buClr>
                <a:srgbClr val="000E56"/>
              </a:buClr>
              <a:buSzPct val="100000"/>
              <a:buFont typeface="Open Sans"/>
              <a:buChar char="●"/>
            </a:pPr>
            <a:r>
              <a:rPr lang="en">
                <a:solidFill>
                  <a:srgbClr val="000E56"/>
                </a:solidFill>
                <a:latin typeface="Open Sans"/>
                <a:ea typeface="Open Sans"/>
                <a:cs typeface="Open Sans"/>
                <a:sym typeface="Open Sans"/>
              </a:rPr>
              <a:t>§4.04.d. &amp; §4.03.d. Authors shall </a:t>
            </a:r>
            <a:r>
              <a:rPr b="1" lang="en">
                <a:solidFill>
                  <a:srgbClr val="0000FF"/>
                </a:solidFill>
                <a:latin typeface="Open Sans"/>
                <a:ea typeface="Open Sans"/>
                <a:cs typeface="Open Sans"/>
                <a:sym typeface="Open Sans"/>
              </a:rPr>
              <a:t>clearly specify funding sources and associated PIDs</a:t>
            </a:r>
            <a:r>
              <a:rPr lang="en">
                <a:solidFill>
                  <a:srgbClr val="000E56"/>
                </a:solidFill>
                <a:latin typeface="Open Sans"/>
                <a:ea typeface="Open Sans"/>
                <a:cs typeface="Open Sans"/>
                <a:sym typeface="Open Sans"/>
              </a:rPr>
              <a:t> in their publications as part of their manuscript submission to the publisher, and in their data documentation submitted to the NDR or other data publisher, as well as to the NIR and NDC.</a:t>
            </a:r>
            <a:endParaRPr>
              <a:solidFill>
                <a:srgbClr val="000E56"/>
              </a:solidFill>
              <a:latin typeface="Open Sans"/>
              <a:ea typeface="Open Sans"/>
              <a:cs typeface="Open Sans"/>
              <a:sym typeface="Open Sans"/>
            </a:endParaRPr>
          </a:p>
        </p:txBody>
      </p:sp>
      <p:sp>
        <p:nvSpPr>
          <p:cNvPr id="154" name="Google Shape;154;p21"/>
          <p:cNvSpPr/>
          <p:nvPr/>
        </p:nvSpPr>
        <p:spPr>
          <a:xfrm>
            <a:off x="102598" y="494325"/>
            <a:ext cx="473400" cy="4173300"/>
          </a:xfrm>
          <a:prstGeom prst="rtTriangle">
            <a:avLst/>
          </a:prstGeom>
          <a:solidFill>
            <a:srgbClr val="17A4F7"/>
          </a:solidFill>
          <a:ln cap="flat" cmpd="sng" w="9525">
            <a:solidFill>
              <a:srgbClr val="17A4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21"/>
          <p:cNvSpPr txBox="1"/>
          <p:nvPr/>
        </p:nvSpPr>
        <p:spPr>
          <a:xfrm>
            <a:off x="4306400" y="4812200"/>
            <a:ext cx="4381800" cy="292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700">
                <a:solidFill>
                  <a:srgbClr val="013F91"/>
                </a:solidFill>
              </a:rPr>
              <a:t>Department of Commerce | National Oceanic and Atmospheric Administration | NOAA Library | </a:t>
            </a:r>
            <a:endParaRPr sz="700">
              <a:solidFill>
                <a:srgbClr val="013F9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2"/>
          <p:cNvSpPr txBox="1"/>
          <p:nvPr/>
        </p:nvSpPr>
        <p:spPr>
          <a:xfrm>
            <a:off x="1239000" y="4412000"/>
            <a:ext cx="3680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161" name="Google Shape;161;p22"/>
          <p:cNvSpPr/>
          <p:nvPr/>
        </p:nvSpPr>
        <p:spPr>
          <a:xfrm>
            <a:off x="125" y="475"/>
            <a:ext cx="531900" cy="5143500"/>
          </a:xfrm>
          <a:prstGeom prst="rtTriangle">
            <a:avLst/>
          </a:prstGeom>
          <a:solidFill>
            <a:srgbClr val="000E56"/>
          </a:solidFill>
          <a:ln cap="flat" cmpd="sng" w="9525">
            <a:solidFill>
              <a:srgbClr val="013F9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62" name="Google Shape;162;p22"/>
          <p:cNvPicPr preferRelativeResize="0"/>
          <p:nvPr/>
        </p:nvPicPr>
        <p:blipFill>
          <a:blip r:embed="rId3">
            <a:alphaModFix/>
          </a:blip>
          <a:stretch>
            <a:fillRect/>
          </a:stretch>
        </p:blipFill>
        <p:spPr>
          <a:xfrm>
            <a:off x="8466600" y="4602825"/>
            <a:ext cx="524701" cy="524701"/>
          </a:xfrm>
          <a:prstGeom prst="rect">
            <a:avLst/>
          </a:prstGeom>
          <a:noFill/>
          <a:ln>
            <a:noFill/>
          </a:ln>
        </p:spPr>
      </p:pic>
      <p:sp>
        <p:nvSpPr>
          <p:cNvPr id="163" name="Google Shape;163;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solidFill>
                  <a:srgbClr val="000E56"/>
                </a:solidFill>
                <a:latin typeface="Open Sans Medium"/>
                <a:ea typeface="Open Sans Medium"/>
                <a:cs typeface="Open Sans Medium"/>
                <a:sym typeface="Open Sans Medium"/>
              </a:rPr>
              <a:t>NAO 205-18: Major Policy Elements re: PIDS cont’d</a:t>
            </a:r>
            <a:endParaRPr>
              <a:solidFill>
                <a:srgbClr val="000E56"/>
              </a:solidFill>
              <a:latin typeface="Open Sans Medium"/>
              <a:ea typeface="Open Sans Medium"/>
              <a:cs typeface="Open Sans Medium"/>
              <a:sym typeface="Open Sans Medium"/>
            </a:endParaRPr>
          </a:p>
        </p:txBody>
      </p:sp>
      <p:sp>
        <p:nvSpPr>
          <p:cNvPr id="164" name="Google Shape;164;p22"/>
          <p:cNvSpPr/>
          <p:nvPr/>
        </p:nvSpPr>
        <p:spPr>
          <a:xfrm>
            <a:off x="48923" y="255275"/>
            <a:ext cx="512400" cy="4675200"/>
          </a:xfrm>
          <a:prstGeom prst="rtTriangle">
            <a:avLst/>
          </a:prstGeom>
          <a:solidFill>
            <a:srgbClr val="013F91"/>
          </a:solidFill>
          <a:ln cap="flat" cmpd="sng" w="9525">
            <a:solidFill>
              <a:srgbClr val="013F9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22"/>
          <p:cNvSpPr/>
          <p:nvPr/>
        </p:nvSpPr>
        <p:spPr>
          <a:xfrm>
            <a:off x="102598" y="494325"/>
            <a:ext cx="473400" cy="4173300"/>
          </a:xfrm>
          <a:prstGeom prst="rtTriangle">
            <a:avLst/>
          </a:prstGeom>
          <a:solidFill>
            <a:srgbClr val="17A4F7"/>
          </a:solidFill>
          <a:ln cap="flat" cmpd="sng" w="9525">
            <a:solidFill>
              <a:srgbClr val="17A4F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22"/>
          <p:cNvSpPr txBox="1"/>
          <p:nvPr/>
        </p:nvSpPr>
        <p:spPr>
          <a:xfrm>
            <a:off x="4306400" y="4812200"/>
            <a:ext cx="4381800" cy="292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700">
                <a:solidFill>
                  <a:srgbClr val="013F91"/>
                </a:solidFill>
              </a:rPr>
              <a:t>Department of Commerce | National Oceanic and Atmospheric Administration | NOAA Library | </a:t>
            </a:r>
            <a:endParaRPr sz="700">
              <a:solidFill>
                <a:srgbClr val="013F91"/>
              </a:solidFill>
            </a:endParaRPr>
          </a:p>
        </p:txBody>
      </p:sp>
      <p:sp>
        <p:nvSpPr>
          <p:cNvPr id="167" name="Google Shape;167;p22"/>
          <p:cNvSpPr txBox="1"/>
          <p:nvPr>
            <p:ph idx="1" type="body"/>
          </p:nvPr>
        </p:nvSpPr>
        <p:spPr>
          <a:xfrm>
            <a:off x="682263" y="1152475"/>
            <a:ext cx="3999900" cy="3416400"/>
          </a:xfrm>
          <a:prstGeom prst="rect">
            <a:avLst/>
          </a:prstGeom>
        </p:spPr>
        <p:txBody>
          <a:bodyPr anchorCtr="0" anchor="t" bIns="91425" lIns="91425" spcFirstLastPara="1" rIns="91425" wrap="square" tIns="91425">
            <a:normAutofit fontScale="85000" lnSpcReduction="10000"/>
          </a:bodyPr>
          <a:lstStyle/>
          <a:p>
            <a:pPr indent="0" lvl="0" marL="0" rtl="0" algn="ctr">
              <a:spcBef>
                <a:spcPts val="0"/>
              </a:spcBef>
              <a:spcAft>
                <a:spcPts val="0"/>
              </a:spcAft>
              <a:buNone/>
            </a:pPr>
            <a:r>
              <a:rPr lang="en" sz="1850" u="sng"/>
              <a:t>Citing </a:t>
            </a:r>
            <a:r>
              <a:rPr lang="en" sz="1850" u="sng"/>
              <a:t>Affiliations</a:t>
            </a:r>
            <a:endParaRPr sz="1850" u="sng"/>
          </a:p>
          <a:p>
            <a:pPr indent="-304165" lvl="0" marL="457200" rtl="0" algn="l">
              <a:spcBef>
                <a:spcPts val="1200"/>
              </a:spcBef>
              <a:spcAft>
                <a:spcPts val="0"/>
              </a:spcAft>
              <a:buClr>
                <a:schemeClr val="dk1"/>
              </a:buClr>
              <a:buSzPct val="100000"/>
              <a:buChar char="●"/>
            </a:pPr>
            <a:r>
              <a:rPr lang="en">
                <a:solidFill>
                  <a:schemeClr val="dk1"/>
                </a:solidFill>
              </a:rPr>
              <a:t>FTE:</a:t>
            </a:r>
            <a:endParaRPr>
              <a:solidFill>
                <a:schemeClr val="dk1"/>
              </a:solidFill>
            </a:endParaRPr>
          </a:p>
          <a:p>
            <a:pPr indent="-293369" lvl="1" marL="914400" rtl="0" algn="l">
              <a:spcBef>
                <a:spcPts val="0"/>
              </a:spcBef>
              <a:spcAft>
                <a:spcPts val="0"/>
              </a:spcAft>
              <a:buClr>
                <a:schemeClr val="dk1"/>
              </a:buClr>
              <a:buSzPct val="100000"/>
              <a:buChar char="○"/>
            </a:pPr>
            <a:r>
              <a:rPr lang="en">
                <a:solidFill>
                  <a:schemeClr val="dk1"/>
                </a:solidFill>
              </a:rPr>
              <a:t>Josiah Carberry (</a:t>
            </a:r>
            <a:r>
              <a:rPr lang="en" u="sng">
                <a:solidFill>
                  <a:schemeClr val="hlink"/>
                </a:solidFill>
                <a:hlinkClick r:id="rId4"/>
              </a:rPr>
              <a:t>https://orcid.org/0000-0002-1825-0097</a:t>
            </a:r>
            <a:r>
              <a:rPr lang="en">
                <a:solidFill>
                  <a:schemeClr val="dk1"/>
                </a:solidFill>
              </a:rPr>
              <a:t>), NOAA/OAR Office of Science Support (</a:t>
            </a:r>
            <a:r>
              <a:rPr lang="en" u="sng">
                <a:solidFill>
                  <a:schemeClr val="hlink"/>
                </a:solidFill>
                <a:hlinkClick r:id="rId5"/>
              </a:rPr>
              <a:t>https://ror.org/052pywd95</a:t>
            </a:r>
            <a:r>
              <a:rPr lang="en">
                <a:solidFill>
                  <a:schemeClr val="dk1"/>
                </a:solidFill>
              </a:rPr>
              <a:t>)</a:t>
            </a:r>
            <a:endParaRPr>
              <a:solidFill>
                <a:schemeClr val="dk1"/>
              </a:solidFill>
            </a:endParaRPr>
          </a:p>
          <a:p>
            <a:pPr indent="-304165" lvl="0" marL="457200" rtl="0" algn="l">
              <a:spcBef>
                <a:spcPts val="0"/>
              </a:spcBef>
              <a:spcAft>
                <a:spcPts val="0"/>
              </a:spcAft>
              <a:buClr>
                <a:schemeClr val="dk1"/>
              </a:buClr>
              <a:buSzPct val="100000"/>
              <a:buChar char="●"/>
            </a:pPr>
            <a:r>
              <a:rPr lang="en">
                <a:solidFill>
                  <a:schemeClr val="dk1"/>
                </a:solidFill>
              </a:rPr>
              <a:t>Contractor:</a:t>
            </a:r>
            <a:endParaRPr>
              <a:solidFill>
                <a:schemeClr val="dk1"/>
              </a:solidFill>
            </a:endParaRPr>
          </a:p>
          <a:p>
            <a:pPr indent="-293369" lvl="1" marL="914400" rtl="0" algn="l">
              <a:spcBef>
                <a:spcPts val="0"/>
              </a:spcBef>
              <a:spcAft>
                <a:spcPts val="0"/>
              </a:spcAft>
              <a:buClr>
                <a:schemeClr val="dk1"/>
              </a:buClr>
              <a:buSzPct val="100000"/>
              <a:buChar char="○"/>
            </a:pPr>
            <a:r>
              <a:rPr lang="en">
                <a:solidFill>
                  <a:schemeClr val="dk1"/>
                </a:solidFill>
              </a:rPr>
              <a:t>Josiah Carberry, ABC Consulting, under contract to NOAA/NOS/ONMS (</a:t>
            </a:r>
            <a:r>
              <a:rPr lang="en" u="sng">
                <a:solidFill>
                  <a:schemeClr val="hlink"/>
                </a:solidFill>
                <a:hlinkClick r:id="rId6"/>
              </a:rPr>
              <a:t>https://ror.org/04bgwn153</a:t>
            </a:r>
            <a:r>
              <a:rPr lang="en">
                <a:solidFill>
                  <a:schemeClr val="dk1"/>
                </a:solidFill>
              </a:rPr>
              <a:t>)</a:t>
            </a:r>
            <a:endParaRPr>
              <a:solidFill>
                <a:schemeClr val="dk1"/>
              </a:solidFill>
            </a:endParaRPr>
          </a:p>
          <a:p>
            <a:pPr indent="-304165" lvl="0" marL="457200" rtl="0" algn="l">
              <a:spcBef>
                <a:spcPts val="0"/>
              </a:spcBef>
              <a:spcAft>
                <a:spcPts val="0"/>
              </a:spcAft>
              <a:buClr>
                <a:schemeClr val="dk1"/>
              </a:buClr>
              <a:buSzPct val="100000"/>
              <a:buChar char="●"/>
            </a:pPr>
            <a:r>
              <a:rPr lang="en">
                <a:solidFill>
                  <a:schemeClr val="dk1"/>
                </a:solidFill>
              </a:rPr>
              <a:t>Grantee:</a:t>
            </a:r>
            <a:endParaRPr>
              <a:solidFill>
                <a:schemeClr val="dk1"/>
              </a:solidFill>
            </a:endParaRPr>
          </a:p>
          <a:p>
            <a:pPr indent="-293369" lvl="1" marL="914400" rtl="0" algn="l">
              <a:spcBef>
                <a:spcPts val="0"/>
              </a:spcBef>
              <a:spcAft>
                <a:spcPts val="0"/>
              </a:spcAft>
              <a:buClr>
                <a:schemeClr val="dk1"/>
              </a:buClr>
              <a:buSzPct val="100000"/>
              <a:buChar char="○"/>
            </a:pPr>
            <a:r>
              <a:rPr lang="en">
                <a:solidFill>
                  <a:schemeClr val="dk1"/>
                </a:solidFill>
              </a:rPr>
              <a:t>Josiah Carberry (</a:t>
            </a:r>
            <a:r>
              <a:rPr lang="en" u="sng">
                <a:solidFill>
                  <a:schemeClr val="hlink"/>
                </a:solidFill>
                <a:hlinkClick r:id="rId7"/>
              </a:rPr>
              <a:t>https://orcid.org/0000-0002-1825-0097</a:t>
            </a:r>
            <a:r>
              <a:rPr lang="en">
                <a:solidFill>
                  <a:schemeClr val="dk1"/>
                </a:solidFill>
              </a:rPr>
              <a:t>), University of Colorado (</a:t>
            </a:r>
            <a:r>
              <a:rPr lang="en" u="sng">
                <a:solidFill>
                  <a:schemeClr val="hlink"/>
                </a:solidFill>
                <a:hlinkClick r:id="rId8"/>
              </a:rPr>
              <a:t>https://ror.org/02ttsq026</a:t>
            </a:r>
            <a:r>
              <a:rPr lang="en">
                <a:solidFill>
                  <a:schemeClr val="dk1"/>
                </a:solidFill>
              </a:rPr>
              <a:t>), Cooperative Institute for Research in Environmental Sciences (</a:t>
            </a:r>
            <a:r>
              <a:rPr lang="en" u="sng">
                <a:solidFill>
                  <a:schemeClr val="hlink"/>
                </a:solidFill>
                <a:hlinkClick r:id="rId9"/>
              </a:rPr>
              <a:t>https://ror.org/00bdqav06</a:t>
            </a:r>
            <a:r>
              <a:rPr lang="en">
                <a:solidFill>
                  <a:schemeClr val="dk1"/>
                </a:solidFill>
              </a:rPr>
              <a:t>), under grant from NOAA/OAR (</a:t>
            </a:r>
            <a:r>
              <a:rPr lang="en" u="sng">
                <a:solidFill>
                  <a:schemeClr val="hlink"/>
                </a:solidFill>
                <a:hlinkClick r:id="rId10"/>
              </a:rPr>
              <a:t>https://ror.org/02kgve346</a:t>
            </a:r>
            <a:r>
              <a:rPr lang="en">
                <a:solidFill>
                  <a:schemeClr val="dk1"/>
                </a:solidFill>
              </a:rPr>
              <a:t>)</a:t>
            </a:r>
            <a:endParaRPr>
              <a:solidFill>
                <a:schemeClr val="dk1"/>
              </a:solidFill>
            </a:endParaRPr>
          </a:p>
        </p:txBody>
      </p:sp>
      <p:sp>
        <p:nvSpPr>
          <p:cNvPr id="168" name="Google Shape;168;p22"/>
          <p:cNvSpPr txBox="1"/>
          <p:nvPr>
            <p:ph idx="2" type="body"/>
          </p:nvPr>
        </p:nvSpPr>
        <p:spPr>
          <a:xfrm>
            <a:off x="4919400" y="1152475"/>
            <a:ext cx="3999900" cy="34164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1600" u="sng"/>
              <a:t>Funding Acknowledgements</a:t>
            </a:r>
            <a:endParaRPr sz="1600" u="sng"/>
          </a:p>
          <a:p>
            <a:pPr indent="-304800" lvl="0" marL="457200" rtl="0" algn="l">
              <a:spcBef>
                <a:spcPts val="1200"/>
              </a:spcBef>
              <a:spcAft>
                <a:spcPts val="0"/>
              </a:spcAft>
              <a:buClr>
                <a:schemeClr val="dk1"/>
              </a:buClr>
              <a:buSzPts val="1200"/>
              <a:buChar char="●"/>
            </a:pPr>
            <a:r>
              <a:rPr lang="en" sz="1200">
                <a:solidFill>
                  <a:schemeClr val="dk1"/>
                </a:solidFill>
              </a:rPr>
              <a:t>“This publication/dataset was funded by the NOAA Line Office/Program Office XXXXXXXX {organization PID or other URL} under award/for the project/program YYYYYYYY {award PID or other URL} to the University/Cooperative Institute/NOAA Laboratory/Center/Program ZZZZZZZZ {organization PID or other URL}.”</a:t>
            </a:r>
            <a:endParaRPr sz="1200">
              <a:solidFill>
                <a:schemeClr val="dk1"/>
              </a:solidFill>
            </a:endParaRPr>
          </a:p>
          <a:p>
            <a:pPr indent="-292100" lvl="1" marL="914400" rtl="0" algn="l">
              <a:spcBef>
                <a:spcPts val="0"/>
              </a:spcBef>
              <a:spcAft>
                <a:spcPts val="0"/>
              </a:spcAft>
              <a:buClr>
                <a:schemeClr val="dk1"/>
              </a:buClr>
              <a:buSzPts val="1000"/>
              <a:buChar char="○"/>
            </a:pPr>
            <a:r>
              <a:rPr lang="en" sz="1000">
                <a:solidFill>
                  <a:schemeClr val="dk1"/>
                </a:solidFill>
              </a:rPr>
              <a:t>“This dataset was funded by the NOAA Center for Satellite Applications and Research (</a:t>
            </a:r>
            <a:r>
              <a:rPr lang="en" sz="1000" u="sng">
                <a:solidFill>
                  <a:schemeClr val="hlink"/>
                </a:solidFill>
                <a:hlinkClick r:id="rId11"/>
              </a:rPr>
              <a:t>https://ror.org/03yn06t56</a:t>
            </a:r>
            <a:r>
              <a:rPr lang="en" sz="1000">
                <a:solidFill>
                  <a:schemeClr val="dk1"/>
                </a:solidFill>
              </a:rPr>
              <a:t>) under award YYYYYYYY (DOI) to the Cooperative Institute for Climate and Satellites (</a:t>
            </a:r>
            <a:r>
              <a:rPr lang="en" sz="1000" u="sng">
                <a:solidFill>
                  <a:schemeClr val="hlink"/>
                </a:solidFill>
                <a:hlinkClick r:id="rId12"/>
              </a:rPr>
              <a:t>https://ror.org/05nc0nk71</a:t>
            </a:r>
            <a:r>
              <a:rPr lang="en" sz="1000">
                <a:solidFill>
                  <a:schemeClr val="dk1"/>
                </a:solidFill>
              </a:rPr>
              <a:t>).”</a:t>
            </a:r>
            <a:endParaRPr sz="10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23"/>
          <p:cNvSpPr/>
          <p:nvPr/>
        </p:nvSpPr>
        <p:spPr>
          <a:xfrm>
            <a:off x="0" y="0"/>
            <a:ext cx="3541500" cy="5119500"/>
          </a:xfrm>
          <a:prstGeom prst="round1Rect">
            <a:avLst>
              <a:gd fmla="val 16667" name="adj"/>
            </a:avLst>
          </a:prstGeom>
          <a:solidFill>
            <a:srgbClr val="013F91"/>
          </a:solidFill>
          <a:ln cap="flat" cmpd="sng" w="9525">
            <a:solidFill>
              <a:srgbClr val="013F9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23"/>
          <p:cNvSpPr txBox="1"/>
          <p:nvPr/>
        </p:nvSpPr>
        <p:spPr>
          <a:xfrm>
            <a:off x="1239000" y="4412000"/>
            <a:ext cx="3680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pic>
        <p:nvPicPr>
          <p:cNvPr id="175" name="Google Shape;175;p23"/>
          <p:cNvPicPr preferRelativeResize="0"/>
          <p:nvPr/>
        </p:nvPicPr>
        <p:blipFill>
          <a:blip r:embed="rId3">
            <a:alphaModFix/>
          </a:blip>
          <a:stretch>
            <a:fillRect/>
          </a:stretch>
        </p:blipFill>
        <p:spPr>
          <a:xfrm>
            <a:off x="8466600" y="4602825"/>
            <a:ext cx="524701" cy="524701"/>
          </a:xfrm>
          <a:prstGeom prst="rect">
            <a:avLst/>
          </a:prstGeom>
          <a:noFill/>
          <a:ln>
            <a:noFill/>
          </a:ln>
        </p:spPr>
      </p:pic>
      <p:sp>
        <p:nvSpPr>
          <p:cNvPr id="176" name="Google Shape;176;p23"/>
          <p:cNvSpPr txBox="1"/>
          <p:nvPr>
            <p:ph type="title"/>
          </p:nvPr>
        </p:nvSpPr>
        <p:spPr>
          <a:xfrm>
            <a:off x="180900" y="2055450"/>
            <a:ext cx="31797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n" sz="3420">
                <a:solidFill>
                  <a:schemeClr val="lt1"/>
                </a:solidFill>
                <a:latin typeface="Open Sans Medium"/>
                <a:ea typeface="Open Sans Medium"/>
                <a:cs typeface="Open Sans Medium"/>
                <a:sym typeface="Open Sans Medium"/>
              </a:rPr>
              <a:t>Next Steps:</a:t>
            </a:r>
            <a:endParaRPr sz="3420">
              <a:solidFill>
                <a:schemeClr val="lt1"/>
              </a:solidFill>
              <a:latin typeface="Open Sans Medium"/>
              <a:ea typeface="Open Sans Medium"/>
              <a:cs typeface="Open Sans Medium"/>
              <a:sym typeface="Open Sans Medium"/>
            </a:endParaRPr>
          </a:p>
          <a:p>
            <a:pPr indent="0" lvl="0" marL="0" rtl="0" algn="ctr">
              <a:spcBef>
                <a:spcPts val="0"/>
              </a:spcBef>
              <a:spcAft>
                <a:spcPts val="0"/>
              </a:spcAft>
              <a:buSzPts val="990"/>
              <a:buNone/>
            </a:pPr>
            <a:r>
              <a:rPr lang="en" sz="3020">
                <a:solidFill>
                  <a:schemeClr val="lt1"/>
                </a:solidFill>
                <a:latin typeface="Open Sans Medium"/>
                <a:ea typeface="Open Sans Medium"/>
                <a:cs typeface="Open Sans Medium"/>
                <a:sym typeface="Open Sans Medium"/>
              </a:rPr>
              <a:t>Implementation</a:t>
            </a:r>
            <a:endParaRPr sz="3020">
              <a:solidFill>
                <a:schemeClr val="lt1"/>
              </a:solidFill>
              <a:latin typeface="Open Sans Medium"/>
              <a:ea typeface="Open Sans Medium"/>
              <a:cs typeface="Open Sans Medium"/>
              <a:sym typeface="Open Sans Medium"/>
            </a:endParaRPr>
          </a:p>
        </p:txBody>
      </p:sp>
      <p:sp>
        <p:nvSpPr>
          <p:cNvPr id="177" name="Google Shape;177;p23"/>
          <p:cNvSpPr txBox="1"/>
          <p:nvPr>
            <p:ph idx="1" type="body"/>
          </p:nvPr>
        </p:nvSpPr>
        <p:spPr>
          <a:xfrm>
            <a:off x="3865300" y="669450"/>
            <a:ext cx="4978800" cy="3804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rgbClr val="000E56"/>
              </a:buClr>
              <a:buSzPts val="1800"/>
              <a:buFont typeface="Open Sans"/>
              <a:buChar char="●"/>
            </a:pPr>
            <a:r>
              <a:rPr lang="en">
                <a:solidFill>
                  <a:srgbClr val="000E56"/>
                </a:solidFill>
                <a:latin typeface="Open Sans"/>
                <a:ea typeface="Open Sans"/>
                <a:cs typeface="Open Sans"/>
                <a:sym typeface="Open Sans"/>
              </a:rPr>
              <a:t>WG membership based on subject matter expertise including representatives from each Line Office - invitations are currently being sent</a:t>
            </a:r>
            <a:endParaRPr>
              <a:solidFill>
                <a:srgbClr val="000E56"/>
              </a:solidFill>
              <a:latin typeface="Open Sans"/>
              <a:ea typeface="Open Sans"/>
              <a:cs typeface="Open Sans"/>
              <a:sym typeface="Open Sans"/>
            </a:endParaRPr>
          </a:p>
          <a:p>
            <a:pPr indent="-342900" lvl="0" marL="457200" rtl="0" algn="l">
              <a:spcBef>
                <a:spcPts val="1000"/>
              </a:spcBef>
              <a:spcAft>
                <a:spcPts val="0"/>
              </a:spcAft>
              <a:buClr>
                <a:srgbClr val="000E56"/>
              </a:buClr>
              <a:buSzPts val="1800"/>
              <a:buFont typeface="Open Sans"/>
              <a:buChar char="●"/>
            </a:pPr>
            <a:r>
              <a:rPr lang="en">
                <a:solidFill>
                  <a:srgbClr val="000E56"/>
                </a:solidFill>
                <a:latin typeface="Open Sans"/>
                <a:ea typeface="Open Sans"/>
                <a:cs typeface="Open Sans"/>
                <a:sym typeface="Open Sans"/>
              </a:rPr>
              <a:t>Developing recommendations and guidance:</a:t>
            </a:r>
            <a:endParaRPr>
              <a:solidFill>
                <a:srgbClr val="000E56"/>
              </a:solidFill>
              <a:latin typeface="Open Sans"/>
              <a:ea typeface="Open Sans"/>
              <a:cs typeface="Open Sans"/>
              <a:sym typeface="Open Sans"/>
            </a:endParaRPr>
          </a:p>
          <a:p>
            <a:pPr indent="-317500" lvl="1" marL="914400" rtl="0" algn="l">
              <a:spcBef>
                <a:spcPts val="1000"/>
              </a:spcBef>
              <a:spcAft>
                <a:spcPts val="0"/>
              </a:spcAft>
              <a:buClr>
                <a:srgbClr val="000E56"/>
              </a:buClr>
              <a:buSzPts val="1400"/>
              <a:buFont typeface="Open Sans"/>
              <a:buChar char="○"/>
            </a:pPr>
            <a:r>
              <a:rPr lang="en">
                <a:solidFill>
                  <a:srgbClr val="000E56"/>
                </a:solidFill>
                <a:latin typeface="Open Sans"/>
                <a:ea typeface="Open Sans"/>
                <a:cs typeface="Open Sans"/>
                <a:sym typeface="Open Sans"/>
              </a:rPr>
              <a:t>Recommendations on policy and procedure updates required (e.g. Data Management Handbook)</a:t>
            </a:r>
            <a:endParaRPr>
              <a:solidFill>
                <a:srgbClr val="000E56"/>
              </a:solidFill>
              <a:latin typeface="Open Sans"/>
              <a:ea typeface="Open Sans"/>
              <a:cs typeface="Open Sans"/>
              <a:sym typeface="Open Sans"/>
            </a:endParaRPr>
          </a:p>
          <a:p>
            <a:pPr indent="-317500" lvl="1" marL="914400" rtl="0" algn="l">
              <a:spcBef>
                <a:spcPts val="1000"/>
              </a:spcBef>
              <a:spcAft>
                <a:spcPts val="0"/>
              </a:spcAft>
              <a:buClr>
                <a:srgbClr val="000E56"/>
              </a:buClr>
              <a:buSzPts val="1400"/>
              <a:buFont typeface="Open Sans"/>
              <a:buChar char="○"/>
            </a:pPr>
            <a:r>
              <a:rPr lang="en">
                <a:solidFill>
                  <a:srgbClr val="000E56"/>
                </a:solidFill>
                <a:latin typeface="Open Sans"/>
                <a:ea typeface="Open Sans"/>
                <a:cs typeface="Open Sans"/>
                <a:sym typeface="Open Sans"/>
              </a:rPr>
              <a:t>Outreach/education materials</a:t>
            </a:r>
            <a:endParaRPr>
              <a:solidFill>
                <a:srgbClr val="000E56"/>
              </a:solidFill>
              <a:latin typeface="Open Sans"/>
              <a:ea typeface="Open Sans"/>
              <a:cs typeface="Open Sans"/>
              <a:sym typeface="Open Sans"/>
            </a:endParaRPr>
          </a:p>
          <a:p>
            <a:pPr indent="-317500" lvl="1" marL="914400" rtl="0" algn="l">
              <a:spcBef>
                <a:spcPts val="1000"/>
              </a:spcBef>
              <a:spcAft>
                <a:spcPts val="1000"/>
              </a:spcAft>
              <a:buClr>
                <a:srgbClr val="000E56"/>
              </a:buClr>
              <a:buSzPts val="1400"/>
              <a:buFont typeface="Open Sans"/>
              <a:buChar char="○"/>
            </a:pPr>
            <a:r>
              <a:rPr lang="en">
                <a:solidFill>
                  <a:srgbClr val="000E56"/>
                </a:solidFill>
                <a:latin typeface="Open Sans"/>
                <a:ea typeface="Open Sans"/>
                <a:cs typeface="Open Sans"/>
                <a:sym typeface="Open Sans"/>
              </a:rPr>
              <a:t>Performance and compliance metrics</a:t>
            </a:r>
            <a:endParaRPr>
              <a:solidFill>
                <a:srgbClr val="000E56"/>
              </a:solidFill>
              <a:latin typeface="Open Sans"/>
              <a:ea typeface="Open Sans"/>
              <a:cs typeface="Open Sans"/>
              <a:sym typeface="Open Sans"/>
            </a:endParaRPr>
          </a:p>
        </p:txBody>
      </p:sp>
      <p:sp>
        <p:nvSpPr>
          <p:cNvPr id="178" name="Google Shape;178;p23"/>
          <p:cNvSpPr txBox="1"/>
          <p:nvPr/>
        </p:nvSpPr>
        <p:spPr>
          <a:xfrm>
            <a:off x="3585000" y="4826925"/>
            <a:ext cx="4916400" cy="292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700">
                <a:solidFill>
                  <a:srgbClr val="013F91"/>
                </a:solidFill>
              </a:rPr>
              <a:t>Department of Commerce | National Oceanic and Atmospheric Administration | PARR Implementation Working Group | </a:t>
            </a:r>
            <a:endParaRPr sz="700">
              <a:solidFill>
                <a:srgbClr val="013F9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4"/>
          <p:cNvSpPr/>
          <p:nvPr/>
        </p:nvSpPr>
        <p:spPr>
          <a:xfrm>
            <a:off x="0" y="0"/>
            <a:ext cx="3541500" cy="5119500"/>
          </a:xfrm>
          <a:prstGeom prst="round1Rect">
            <a:avLst>
              <a:gd fmla="val 16667" name="adj"/>
            </a:avLst>
          </a:prstGeom>
          <a:solidFill>
            <a:srgbClr val="013F91"/>
          </a:solidFill>
          <a:ln cap="flat" cmpd="sng" w="9525">
            <a:solidFill>
              <a:srgbClr val="013F9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24"/>
          <p:cNvSpPr txBox="1"/>
          <p:nvPr/>
        </p:nvSpPr>
        <p:spPr>
          <a:xfrm>
            <a:off x="1239000" y="4412000"/>
            <a:ext cx="3680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pic>
        <p:nvPicPr>
          <p:cNvPr id="185" name="Google Shape;185;p24"/>
          <p:cNvPicPr preferRelativeResize="0"/>
          <p:nvPr/>
        </p:nvPicPr>
        <p:blipFill>
          <a:blip r:embed="rId3">
            <a:alphaModFix/>
          </a:blip>
          <a:stretch>
            <a:fillRect/>
          </a:stretch>
        </p:blipFill>
        <p:spPr>
          <a:xfrm>
            <a:off x="8466600" y="4602825"/>
            <a:ext cx="524701" cy="524701"/>
          </a:xfrm>
          <a:prstGeom prst="rect">
            <a:avLst/>
          </a:prstGeom>
          <a:noFill/>
          <a:ln>
            <a:noFill/>
          </a:ln>
        </p:spPr>
      </p:pic>
      <p:sp>
        <p:nvSpPr>
          <p:cNvPr id="186" name="Google Shape;186;p24"/>
          <p:cNvSpPr txBox="1"/>
          <p:nvPr>
            <p:ph type="title"/>
          </p:nvPr>
        </p:nvSpPr>
        <p:spPr>
          <a:xfrm>
            <a:off x="180900" y="2055450"/>
            <a:ext cx="3179700" cy="124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n" sz="3420">
                <a:solidFill>
                  <a:schemeClr val="lt1"/>
                </a:solidFill>
                <a:latin typeface="Open Sans Medium"/>
                <a:ea typeface="Open Sans Medium"/>
                <a:cs typeface="Open Sans Medium"/>
                <a:sym typeface="Open Sans Medium"/>
              </a:rPr>
              <a:t>What can I do today?</a:t>
            </a:r>
            <a:endParaRPr sz="3020">
              <a:solidFill>
                <a:schemeClr val="lt1"/>
              </a:solidFill>
              <a:latin typeface="Open Sans Medium"/>
              <a:ea typeface="Open Sans Medium"/>
              <a:cs typeface="Open Sans Medium"/>
              <a:sym typeface="Open Sans Medium"/>
            </a:endParaRPr>
          </a:p>
        </p:txBody>
      </p:sp>
      <p:sp>
        <p:nvSpPr>
          <p:cNvPr id="187" name="Google Shape;187;p24"/>
          <p:cNvSpPr txBox="1"/>
          <p:nvPr>
            <p:ph idx="1" type="body"/>
          </p:nvPr>
        </p:nvSpPr>
        <p:spPr>
          <a:xfrm>
            <a:off x="3865300" y="669450"/>
            <a:ext cx="4978800" cy="38046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rgbClr val="000E56"/>
              </a:buClr>
              <a:buSzPts val="1800"/>
              <a:buFont typeface="Open Sans"/>
              <a:buAutoNum type="arabicPeriod"/>
            </a:pPr>
            <a:r>
              <a:rPr lang="en">
                <a:solidFill>
                  <a:srgbClr val="000E56"/>
                </a:solidFill>
                <a:latin typeface="Open Sans"/>
                <a:ea typeface="Open Sans"/>
                <a:cs typeface="Open Sans"/>
                <a:sym typeface="Open Sans"/>
              </a:rPr>
              <a:t>Identify all datasets </a:t>
            </a:r>
            <a:endParaRPr>
              <a:solidFill>
                <a:srgbClr val="000E56"/>
              </a:solidFill>
              <a:latin typeface="Open Sans"/>
              <a:ea typeface="Open Sans"/>
              <a:cs typeface="Open Sans"/>
              <a:sym typeface="Open Sans"/>
            </a:endParaRPr>
          </a:p>
          <a:p>
            <a:pPr indent="-342900" lvl="0" marL="457200" rtl="0" algn="l">
              <a:spcBef>
                <a:spcPts val="1000"/>
              </a:spcBef>
              <a:spcAft>
                <a:spcPts val="0"/>
              </a:spcAft>
              <a:buClr>
                <a:srgbClr val="000E56"/>
              </a:buClr>
              <a:buSzPts val="1800"/>
              <a:buFont typeface="Open Sans"/>
              <a:buAutoNum type="arabicPeriod"/>
            </a:pPr>
            <a:r>
              <a:rPr lang="en">
                <a:solidFill>
                  <a:srgbClr val="000E56"/>
                </a:solidFill>
                <a:latin typeface="Open Sans"/>
                <a:ea typeface="Open Sans"/>
                <a:cs typeface="Open Sans"/>
                <a:sym typeface="Open Sans"/>
              </a:rPr>
              <a:t>Data documentation (metadata)</a:t>
            </a:r>
            <a:endParaRPr>
              <a:solidFill>
                <a:srgbClr val="000E56"/>
              </a:solidFill>
              <a:latin typeface="Open Sans"/>
              <a:ea typeface="Open Sans"/>
              <a:cs typeface="Open Sans"/>
              <a:sym typeface="Open Sans"/>
            </a:endParaRPr>
          </a:p>
          <a:p>
            <a:pPr indent="-342900" lvl="0" marL="457200" rtl="0" algn="l">
              <a:spcBef>
                <a:spcPts val="1000"/>
              </a:spcBef>
              <a:spcAft>
                <a:spcPts val="0"/>
              </a:spcAft>
              <a:buClr>
                <a:srgbClr val="000E56"/>
              </a:buClr>
              <a:buSzPts val="1800"/>
              <a:buFont typeface="Open Sans"/>
              <a:buAutoNum type="arabicPeriod"/>
            </a:pPr>
            <a:r>
              <a:rPr lang="en">
                <a:solidFill>
                  <a:srgbClr val="000E56"/>
                </a:solidFill>
                <a:latin typeface="Open Sans"/>
                <a:ea typeface="Open Sans"/>
                <a:cs typeface="Open Sans"/>
                <a:sym typeface="Open Sans"/>
              </a:rPr>
              <a:t>Data preservation</a:t>
            </a:r>
            <a:endParaRPr>
              <a:solidFill>
                <a:srgbClr val="000E56"/>
              </a:solidFill>
              <a:latin typeface="Open Sans"/>
              <a:ea typeface="Open Sans"/>
              <a:cs typeface="Open Sans"/>
              <a:sym typeface="Open Sans"/>
            </a:endParaRPr>
          </a:p>
          <a:p>
            <a:pPr indent="-317500" lvl="1" marL="914400" rtl="0" algn="l">
              <a:spcBef>
                <a:spcPts val="1000"/>
              </a:spcBef>
              <a:spcAft>
                <a:spcPts val="0"/>
              </a:spcAft>
              <a:buClr>
                <a:srgbClr val="000E56"/>
              </a:buClr>
              <a:buSzPts val="1400"/>
              <a:buFont typeface="Open Sans"/>
              <a:buChar char="○"/>
            </a:pPr>
            <a:r>
              <a:rPr lang="en">
                <a:solidFill>
                  <a:srgbClr val="000E56"/>
                </a:solidFill>
                <a:latin typeface="Open Sans"/>
                <a:ea typeface="Open Sans"/>
                <a:cs typeface="Open Sans"/>
                <a:sym typeface="Open Sans"/>
              </a:rPr>
              <a:t>Contact your ACDO and/or NCEI to start</a:t>
            </a:r>
            <a:endParaRPr>
              <a:solidFill>
                <a:srgbClr val="000E56"/>
              </a:solidFill>
              <a:latin typeface="Open Sans"/>
              <a:ea typeface="Open Sans"/>
              <a:cs typeface="Open Sans"/>
              <a:sym typeface="Open Sans"/>
            </a:endParaRPr>
          </a:p>
          <a:p>
            <a:pPr indent="-342900" lvl="0" marL="457200" rtl="0" algn="l">
              <a:spcBef>
                <a:spcPts val="1000"/>
              </a:spcBef>
              <a:spcAft>
                <a:spcPts val="0"/>
              </a:spcAft>
              <a:buClr>
                <a:srgbClr val="000E56"/>
              </a:buClr>
              <a:buSzPts val="1800"/>
              <a:buFont typeface="Open Sans"/>
              <a:buAutoNum type="arabicPeriod"/>
            </a:pPr>
            <a:r>
              <a:rPr lang="en">
                <a:solidFill>
                  <a:srgbClr val="000E56"/>
                </a:solidFill>
                <a:latin typeface="Open Sans"/>
                <a:ea typeface="Open Sans"/>
                <a:cs typeface="Open Sans"/>
                <a:sym typeface="Open Sans"/>
              </a:rPr>
              <a:t>Get your ORCID </a:t>
            </a:r>
            <a:endParaRPr>
              <a:solidFill>
                <a:srgbClr val="000E56"/>
              </a:solidFill>
              <a:latin typeface="Open Sans"/>
              <a:ea typeface="Open Sans"/>
              <a:cs typeface="Open Sans"/>
              <a:sym typeface="Open Sans"/>
            </a:endParaRPr>
          </a:p>
          <a:p>
            <a:pPr indent="-317500" lvl="1" marL="914400" rtl="0" algn="l">
              <a:spcBef>
                <a:spcPts val="1000"/>
              </a:spcBef>
              <a:spcAft>
                <a:spcPts val="0"/>
              </a:spcAft>
              <a:buClr>
                <a:srgbClr val="000E56"/>
              </a:buClr>
              <a:buSzPts val="1400"/>
              <a:buFont typeface="Open Sans"/>
              <a:buChar char="○"/>
            </a:pPr>
            <a:r>
              <a:rPr lang="en">
                <a:solidFill>
                  <a:srgbClr val="000E56"/>
                </a:solidFill>
                <a:latin typeface="Open Sans"/>
                <a:ea typeface="Open Sans"/>
                <a:cs typeface="Open Sans"/>
                <a:sym typeface="Open Sans"/>
              </a:rPr>
              <a:t>Reach out to the Library if needed</a:t>
            </a:r>
            <a:endParaRPr>
              <a:solidFill>
                <a:srgbClr val="000E56"/>
              </a:solidFill>
              <a:latin typeface="Open Sans"/>
              <a:ea typeface="Open Sans"/>
              <a:cs typeface="Open Sans"/>
              <a:sym typeface="Open Sans"/>
            </a:endParaRPr>
          </a:p>
          <a:p>
            <a:pPr indent="-342900" lvl="0" marL="457200" rtl="0" algn="l">
              <a:spcBef>
                <a:spcPts val="1000"/>
              </a:spcBef>
              <a:spcAft>
                <a:spcPts val="0"/>
              </a:spcAft>
              <a:buClr>
                <a:srgbClr val="000E56"/>
              </a:buClr>
              <a:buSzPts val="1800"/>
              <a:buFont typeface="Open Sans"/>
              <a:buAutoNum type="arabicPeriod"/>
            </a:pPr>
            <a:r>
              <a:rPr lang="en">
                <a:solidFill>
                  <a:srgbClr val="000E56"/>
                </a:solidFill>
                <a:latin typeface="Open Sans"/>
                <a:ea typeface="Open Sans"/>
                <a:cs typeface="Open Sans"/>
                <a:sym typeface="Open Sans"/>
              </a:rPr>
              <a:t>Publications submitted to the NOAA IR</a:t>
            </a:r>
            <a:endParaRPr>
              <a:solidFill>
                <a:srgbClr val="000E56"/>
              </a:solidFill>
              <a:latin typeface="Open Sans"/>
              <a:ea typeface="Open Sans"/>
              <a:cs typeface="Open Sans"/>
              <a:sym typeface="Open Sans"/>
            </a:endParaRPr>
          </a:p>
          <a:p>
            <a:pPr indent="-317500" lvl="1" marL="914400" rtl="0" algn="l">
              <a:spcBef>
                <a:spcPts val="1000"/>
              </a:spcBef>
              <a:spcAft>
                <a:spcPts val="1000"/>
              </a:spcAft>
              <a:buClr>
                <a:srgbClr val="000E56"/>
              </a:buClr>
              <a:buSzPts val="1400"/>
              <a:buFont typeface="Open Sans"/>
              <a:buChar char="○"/>
            </a:pPr>
            <a:r>
              <a:rPr lang="en">
                <a:solidFill>
                  <a:srgbClr val="000E56"/>
                </a:solidFill>
                <a:latin typeface="Open Sans"/>
                <a:ea typeface="Open Sans"/>
                <a:cs typeface="Open Sans"/>
                <a:sym typeface="Open Sans"/>
              </a:rPr>
              <a:t>Reach out to the Library if needed </a:t>
            </a:r>
            <a:endParaRPr>
              <a:solidFill>
                <a:srgbClr val="000E56"/>
              </a:solidFill>
              <a:latin typeface="Open Sans"/>
              <a:ea typeface="Open Sans"/>
              <a:cs typeface="Open Sans"/>
              <a:sym typeface="Open Sans"/>
            </a:endParaRPr>
          </a:p>
        </p:txBody>
      </p:sp>
      <p:sp>
        <p:nvSpPr>
          <p:cNvPr id="188" name="Google Shape;188;p24"/>
          <p:cNvSpPr txBox="1"/>
          <p:nvPr/>
        </p:nvSpPr>
        <p:spPr>
          <a:xfrm>
            <a:off x="3585000" y="4826925"/>
            <a:ext cx="4916400" cy="292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700">
                <a:solidFill>
                  <a:srgbClr val="013F91"/>
                </a:solidFill>
              </a:rPr>
              <a:t>Department of Commerce | National Oceanic and Atmospheric Administration | PARR Implementation Working Group | </a:t>
            </a:r>
            <a:endParaRPr sz="700">
              <a:solidFill>
                <a:srgbClr val="013F9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5"/>
          <p:cNvSpPr/>
          <p:nvPr/>
        </p:nvSpPr>
        <p:spPr>
          <a:xfrm flipH="1">
            <a:off x="0" y="4347075"/>
            <a:ext cx="9144000" cy="796500"/>
          </a:xfrm>
          <a:prstGeom prst="rtTriangle">
            <a:avLst/>
          </a:prstGeom>
          <a:solidFill>
            <a:srgbClr val="17365D"/>
          </a:solidFill>
          <a:ln cap="flat" cmpd="sng" w="9525">
            <a:solidFill>
              <a:srgbClr val="17365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25"/>
          <p:cNvSpPr txBox="1"/>
          <p:nvPr/>
        </p:nvSpPr>
        <p:spPr>
          <a:xfrm>
            <a:off x="1239000" y="4412000"/>
            <a:ext cx="36804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pic>
        <p:nvPicPr>
          <p:cNvPr id="195" name="Google Shape;195;p25"/>
          <p:cNvPicPr preferRelativeResize="0"/>
          <p:nvPr/>
        </p:nvPicPr>
        <p:blipFill>
          <a:blip r:embed="rId3">
            <a:alphaModFix/>
          </a:blip>
          <a:stretch>
            <a:fillRect/>
          </a:stretch>
        </p:blipFill>
        <p:spPr>
          <a:xfrm>
            <a:off x="8466600" y="4602825"/>
            <a:ext cx="524701" cy="524701"/>
          </a:xfrm>
          <a:prstGeom prst="rect">
            <a:avLst/>
          </a:prstGeom>
          <a:noFill/>
          <a:ln>
            <a:noFill/>
          </a:ln>
        </p:spPr>
      </p:pic>
      <p:sp>
        <p:nvSpPr>
          <p:cNvPr id="196" name="Google Shape;196;p25"/>
          <p:cNvSpPr txBox="1"/>
          <p:nvPr>
            <p:ph type="title"/>
          </p:nvPr>
        </p:nvSpPr>
        <p:spPr>
          <a:xfrm>
            <a:off x="311700" y="2093325"/>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5100">
                <a:solidFill>
                  <a:srgbClr val="17A4F7"/>
                </a:solidFill>
                <a:latin typeface="Open Sans SemiBold"/>
                <a:ea typeface="Open Sans SemiBold"/>
                <a:cs typeface="Open Sans SemiBold"/>
                <a:sym typeface="Open Sans SemiBold"/>
              </a:rPr>
              <a:t>Questions?</a:t>
            </a:r>
            <a:endParaRPr sz="5200">
              <a:solidFill>
                <a:srgbClr val="17A4F7"/>
              </a:solidFill>
              <a:latin typeface="Open Sans SemiBold"/>
              <a:ea typeface="Open Sans SemiBold"/>
              <a:cs typeface="Open Sans SemiBold"/>
              <a:sym typeface="Open Sans SemiBold"/>
            </a:endParaRPr>
          </a:p>
        </p:txBody>
      </p:sp>
      <p:sp>
        <p:nvSpPr>
          <p:cNvPr id="197" name="Google Shape;197;p25"/>
          <p:cNvSpPr txBox="1"/>
          <p:nvPr/>
        </p:nvSpPr>
        <p:spPr>
          <a:xfrm>
            <a:off x="3585000" y="4826925"/>
            <a:ext cx="4916400" cy="292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700">
                <a:solidFill>
                  <a:schemeClr val="lt1"/>
                </a:solidFill>
              </a:rPr>
              <a:t>Department of Commerce | National Oceanic and Atmospheric Administration | PARR Implementation Working Group | </a:t>
            </a:r>
            <a:endParaRPr sz="700">
              <a:solidFill>
                <a:schemeClr val="lt1"/>
              </a:solidFill>
            </a:endParaRPr>
          </a:p>
        </p:txBody>
      </p:sp>
      <p:sp>
        <p:nvSpPr>
          <p:cNvPr id="198" name="Google Shape;198;p25"/>
          <p:cNvSpPr txBox="1"/>
          <p:nvPr>
            <p:ph type="title"/>
          </p:nvPr>
        </p:nvSpPr>
        <p:spPr>
          <a:xfrm>
            <a:off x="311700" y="2935125"/>
            <a:ext cx="8520600" cy="5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en" sz="1340">
                <a:solidFill>
                  <a:srgbClr val="000E56"/>
                </a:solidFill>
                <a:latin typeface="Open Sans Medium"/>
                <a:ea typeface="Open Sans Medium"/>
                <a:cs typeface="Open Sans Medium"/>
                <a:sym typeface="Open Sans Medium"/>
              </a:rPr>
              <a:t>joseph.fillingham@noaa.gov </a:t>
            </a:r>
            <a:endParaRPr sz="1340">
              <a:solidFill>
                <a:srgbClr val="000E56"/>
              </a:solidFill>
              <a:latin typeface="Open Sans Medium"/>
              <a:ea typeface="Open Sans Medium"/>
              <a:cs typeface="Open Sans Medium"/>
              <a:sym typeface="Open Sans Medium"/>
            </a:endParaRPr>
          </a:p>
          <a:p>
            <a:pPr indent="0" lvl="0" marL="0" rtl="0" algn="ctr">
              <a:spcBef>
                <a:spcPts val="0"/>
              </a:spcBef>
              <a:spcAft>
                <a:spcPts val="0"/>
              </a:spcAft>
              <a:buSzPts val="990"/>
              <a:buNone/>
            </a:pPr>
            <a:r>
              <a:rPr lang="en" sz="1340">
                <a:solidFill>
                  <a:srgbClr val="000E56"/>
                </a:solidFill>
                <a:latin typeface="Open Sans Medium"/>
                <a:ea typeface="Open Sans Medium"/>
                <a:cs typeface="Open Sans Medium"/>
                <a:sym typeface="Open Sans Medium"/>
              </a:rPr>
              <a:t>jennifer.fagan-fry@noaa.gov</a:t>
            </a:r>
            <a:endParaRPr sz="1340">
              <a:solidFill>
                <a:srgbClr val="000E56"/>
              </a:solidFill>
              <a:latin typeface="Open Sans Medium"/>
              <a:ea typeface="Open Sans Medium"/>
              <a:cs typeface="Open Sans Medium"/>
              <a:sym typeface="Open Sans Medium"/>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